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71" r:id="rId3"/>
    <p:sldId id="264" r:id="rId4"/>
    <p:sldId id="265" r:id="rId5"/>
    <p:sldId id="276" r:id="rId6"/>
    <p:sldId id="277" r:id="rId7"/>
    <p:sldId id="278" r:id="rId8"/>
    <p:sldId id="279" r:id="rId9"/>
    <p:sldId id="266" r:id="rId10"/>
    <p:sldId id="267" r:id="rId11"/>
    <p:sldId id="273" r:id="rId12"/>
    <p:sldId id="274" r:id="rId13"/>
    <p:sldId id="269" r:id="rId14"/>
    <p:sldId id="272"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Orta Stil 2 - Vurgu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F22C7-7148-4D6E-A90E-01DD16E71B77}" type="datetimeFigureOut">
              <a:rPr lang="tr-TR" smtClean="0"/>
              <a:t>13.05.2025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0DE98-AA6B-4CC3-947D-88C2B00AF18B}" type="slidenum">
              <a:rPr lang="tr-TR" smtClean="0"/>
              <a:t>‹#›</a:t>
            </a:fld>
            <a:endParaRPr lang="tr-TR"/>
          </a:p>
        </p:txBody>
      </p:sp>
    </p:spTree>
    <p:extLst>
      <p:ext uri="{BB962C8B-B14F-4D97-AF65-F5344CB8AC3E}">
        <p14:creationId xmlns:p14="http://schemas.microsoft.com/office/powerpoint/2010/main" val="1967701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7AF0DE98-AA6B-4CC3-947D-88C2B00AF18B}" type="slidenum">
              <a:rPr lang="tr-TR" smtClean="0"/>
              <a:t>1</a:t>
            </a:fld>
            <a:endParaRPr lang="tr-TR"/>
          </a:p>
        </p:txBody>
      </p:sp>
    </p:spTree>
    <p:extLst>
      <p:ext uri="{BB962C8B-B14F-4D97-AF65-F5344CB8AC3E}">
        <p14:creationId xmlns:p14="http://schemas.microsoft.com/office/powerpoint/2010/main" val="646271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BF463BA8-E6ED-4A1A-B4C1-6436B20DD511}" type="datetimeFigureOut">
              <a:rPr lang="tr-TR" smtClean="0"/>
              <a:t>13.05.2025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1110754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F463BA8-E6ED-4A1A-B4C1-6436B20DD511}" type="datetimeFigureOut">
              <a:rPr lang="tr-TR" smtClean="0"/>
              <a:t>13.05.2025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8387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F463BA8-E6ED-4A1A-B4C1-6436B20DD511}" type="datetimeFigureOut">
              <a:rPr lang="tr-TR" smtClean="0"/>
              <a:t>13.05.2025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3864363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F463BA8-E6ED-4A1A-B4C1-6436B20DD511}" type="datetimeFigureOut">
              <a:rPr lang="tr-TR" smtClean="0"/>
              <a:t>13.05.2025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3078611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F463BA8-E6ED-4A1A-B4C1-6436B20DD511}" type="datetimeFigureOut">
              <a:rPr lang="tr-TR" smtClean="0"/>
              <a:t>13.05.2025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218033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F463BA8-E6ED-4A1A-B4C1-6436B20DD511}" type="datetimeFigureOut">
              <a:rPr lang="tr-TR" smtClean="0"/>
              <a:t>13.05.2025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3866332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63BA8-E6ED-4A1A-B4C1-6436B20DD511}" type="datetimeFigureOut">
              <a:rPr lang="tr-TR" smtClean="0"/>
              <a:t>13.05.2025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2492257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F463BA8-E6ED-4A1A-B4C1-6436B20DD511}" type="datetimeFigureOut">
              <a:rPr lang="tr-TR" smtClean="0"/>
              <a:t>13.05.2025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1208576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F463BA8-E6ED-4A1A-B4C1-6436B20DD511}" type="datetimeFigureOut">
              <a:rPr lang="tr-TR" smtClean="0"/>
              <a:t>13.05.2025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400707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F463BA8-E6ED-4A1A-B4C1-6436B20DD511}" type="datetimeFigureOut">
              <a:rPr lang="tr-TR" smtClean="0"/>
              <a:t>13.05.2025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4175670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F463BA8-E6ED-4A1A-B4C1-6436B20DD511}" type="datetimeFigureOut">
              <a:rPr lang="tr-TR" smtClean="0"/>
              <a:t>13.05.2025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197BE37-6DAE-412A-B45A-9E2F85767FBC}" type="slidenum">
              <a:rPr lang="tr-TR" smtClean="0"/>
              <a:t>‹#›</a:t>
            </a:fld>
            <a:endParaRPr lang="tr-TR"/>
          </a:p>
        </p:txBody>
      </p:sp>
    </p:spTree>
    <p:extLst>
      <p:ext uri="{BB962C8B-B14F-4D97-AF65-F5344CB8AC3E}">
        <p14:creationId xmlns:p14="http://schemas.microsoft.com/office/powerpoint/2010/main" val="2062861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463BA8-E6ED-4A1A-B4C1-6436B20DD511}" type="datetimeFigureOut">
              <a:rPr lang="tr-TR" smtClean="0"/>
              <a:t>13.05.2025</a:t>
            </a:fld>
            <a:endParaRPr lang="tr-T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97BE37-6DAE-412A-B45A-9E2F85767FBC}" type="slidenum">
              <a:rPr lang="tr-TR" smtClean="0"/>
              <a:t>‹#›</a:t>
            </a:fld>
            <a:endParaRPr lang="tr-TR"/>
          </a:p>
        </p:txBody>
      </p:sp>
    </p:spTree>
    <p:extLst>
      <p:ext uri="{BB962C8B-B14F-4D97-AF65-F5344CB8AC3E}">
        <p14:creationId xmlns:p14="http://schemas.microsoft.com/office/powerpoint/2010/main" val="2273186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grafik, yazı tipi, logo, grafik tasarım içeren bir resim&#10;&#10;Yapay zeka tarafından oluşturulan içerik yanlış olabilir.">
            <a:extLst>
              <a:ext uri="{FF2B5EF4-FFF2-40B4-BE49-F238E27FC236}">
                <a16:creationId xmlns:a16="http://schemas.microsoft.com/office/drawing/2014/main" id="{B549202F-1681-2D8D-B15A-AD0642330DA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46351" y="5908515"/>
            <a:ext cx="1349365" cy="667023"/>
          </a:xfrm>
          <a:prstGeom prst="rect">
            <a:avLst/>
          </a:prstGeom>
          <a:noFill/>
          <a:ln>
            <a:noFill/>
          </a:ln>
        </p:spPr>
      </p:pic>
      <p:pic>
        <p:nvPicPr>
          <p:cNvPr id="6" name="Resim 5" descr="Download NTT Data Logo in SVG Vector or PNG File Format - Logo.wine">
            <a:extLst>
              <a:ext uri="{FF2B5EF4-FFF2-40B4-BE49-F238E27FC236}">
                <a16:creationId xmlns:a16="http://schemas.microsoft.com/office/drawing/2014/main" id="{88E1A57A-8AA7-A268-585F-95ABE0B2E51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4603" y="5476568"/>
            <a:ext cx="2317293" cy="1545391"/>
          </a:xfrm>
          <a:prstGeom prst="rect">
            <a:avLst/>
          </a:prstGeom>
          <a:noFill/>
          <a:ln>
            <a:noFill/>
          </a:ln>
        </p:spPr>
      </p:pic>
      <p:pic>
        <p:nvPicPr>
          <p:cNvPr id="4" name="Resim 3" descr="logo, simge, sembol, yazı tipi, ticari marka içeren bir resim&#10;&#10;Yapay zeka tarafından oluşturulan içerik yanlış olabilir.">
            <a:extLst>
              <a:ext uri="{FF2B5EF4-FFF2-40B4-BE49-F238E27FC236}">
                <a16:creationId xmlns:a16="http://schemas.microsoft.com/office/drawing/2014/main" id="{15AF8C93-3EF3-EB02-3512-2B88DB517F1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1801" y="5769077"/>
            <a:ext cx="959916" cy="959916"/>
          </a:xfrm>
          <a:prstGeom prst="rect">
            <a:avLst/>
          </a:prstGeom>
          <a:noFill/>
          <a:ln>
            <a:noFill/>
          </a:ln>
        </p:spPr>
      </p:pic>
      <p:pic>
        <p:nvPicPr>
          <p:cNvPr id="16" name="Resim 15" descr="Ulaşan eller">
            <a:extLst>
              <a:ext uri="{FF2B5EF4-FFF2-40B4-BE49-F238E27FC236}">
                <a16:creationId xmlns:a16="http://schemas.microsoft.com/office/drawing/2014/main" id="{17E74F89-5586-F581-3249-CEBD376078D9}"/>
              </a:ext>
            </a:extLst>
          </p:cNvPr>
          <p:cNvPicPr>
            <a:picLocks noChangeAspect="1"/>
          </p:cNvPicPr>
          <p:nvPr/>
        </p:nvPicPr>
        <p:blipFill>
          <a:blip r:embed="rId6">
            <a:alphaModFix amt="35000"/>
            <a:extLst>
              <a:ext uri="{28A0092B-C50C-407E-A947-70E740481C1C}">
                <a14:useLocalDpi xmlns:a14="http://schemas.microsoft.com/office/drawing/2010/main" val="0"/>
              </a:ext>
            </a:extLst>
          </a:blip>
          <a:stretch>
            <a:fillRect/>
          </a:stretch>
        </p:blipFill>
        <p:spPr>
          <a:xfrm>
            <a:off x="-4915" y="0"/>
            <a:ext cx="12192000" cy="9571123"/>
          </a:xfrm>
          <a:prstGeom prst="rect">
            <a:avLst/>
          </a:prstGeom>
        </p:spPr>
      </p:pic>
      <p:sp>
        <p:nvSpPr>
          <p:cNvPr id="2" name="Başlık 1">
            <a:extLst>
              <a:ext uri="{FF2B5EF4-FFF2-40B4-BE49-F238E27FC236}">
                <a16:creationId xmlns:a16="http://schemas.microsoft.com/office/drawing/2014/main" id="{B1AEEC5F-9A09-74D4-CAB4-A12B5425F6C2}"/>
              </a:ext>
            </a:extLst>
          </p:cNvPr>
          <p:cNvSpPr>
            <a:spLocks noGrp="1"/>
          </p:cNvSpPr>
          <p:nvPr>
            <p:ph type="ctrTitle"/>
          </p:nvPr>
        </p:nvSpPr>
        <p:spPr>
          <a:xfrm>
            <a:off x="4095136" y="-1440426"/>
            <a:ext cx="8091949" cy="4178710"/>
          </a:xfrm>
        </p:spPr>
        <p:txBody>
          <a:bodyPr>
            <a:normAutofit/>
          </a:bodyPr>
          <a:lstStyle/>
          <a:p>
            <a:pPr algn="r"/>
            <a:r>
              <a:rPr lang="tr-TR" sz="3200" kern="100" cap="all" dirty="0">
                <a:solidFill>
                  <a:schemeClr val="tx2"/>
                </a:solidFill>
                <a:effectLst/>
                <a:latin typeface="Amasis MT Pro Black" panose="020F0502020204030204" pitchFamily="18" charset="-94"/>
                <a:ea typeface="DengXian" panose="02010600030101010101" pitchFamily="2" charset="-122"/>
                <a:cs typeface="Times New Roman" panose="02020603050405020304" pitchFamily="18" charset="0"/>
              </a:rPr>
              <a:t>NTT DATA SAP DESTEK SÜREÇLERİNİN İNCELENMESİ VE İYİLEŞTİRME ÖNERİLERİNİN SUNULMASI</a:t>
            </a:r>
            <a:endParaRPr lang="tr-TR" sz="8800" dirty="0">
              <a:solidFill>
                <a:schemeClr val="tx2"/>
              </a:solidFill>
              <a:latin typeface="Amasis MT Pro Black" panose="020F0502020204030204" pitchFamily="18" charset="-94"/>
              <a:cs typeface="Times New Roman" panose="02020603050405020304" pitchFamily="18" charset="0"/>
            </a:endParaRPr>
          </a:p>
        </p:txBody>
      </p:sp>
      <p:sp>
        <p:nvSpPr>
          <p:cNvPr id="3" name="Alt Başlık 2">
            <a:extLst>
              <a:ext uri="{FF2B5EF4-FFF2-40B4-BE49-F238E27FC236}">
                <a16:creationId xmlns:a16="http://schemas.microsoft.com/office/drawing/2014/main" id="{5507D5DD-2B0B-F514-1642-839C75028571}"/>
              </a:ext>
            </a:extLst>
          </p:cNvPr>
          <p:cNvSpPr>
            <a:spLocks noGrp="1"/>
          </p:cNvSpPr>
          <p:nvPr>
            <p:ph type="subTitle" idx="1"/>
          </p:nvPr>
        </p:nvSpPr>
        <p:spPr>
          <a:xfrm>
            <a:off x="8509820" y="2738284"/>
            <a:ext cx="3677265" cy="498014"/>
          </a:xfrm>
        </p:spPr>
        <p:txBody>
          <a:bodyPr/>
          <a:lstStyle/>
          <a:p>
            <a:pPr algn="r"/>
            <a:r>
              <a:rPr lang="tr-TR" b="0" i="0" dirty="0">
                <a:solidFill>
                  <a:schemeClr val="tx2"/>
                </a:solidFill>
                <a:effectLst/>
                <a:latin typeface="DeepSeek-CJK-patch"/>
              </a:rPr>
              <a:t> Selin Pir - 22219035</a:t>
            </a:r>
            <a:endParaRPr lang="tr-TR" dirty="0">
              <a:solidFill>
                <a:schemeClr val="tx2"/>
              </a:solidFill>
            </a:endParaRPr>
          </a:p>
        </p:txBody>
      </p:sp>
    </p:spTree>
    <p:extLst>
      <p:ext uri="{BB962C8B-B14F-4D97-AF65-F5344CB8AC3E}">
        <p14:creationId xmlns:p14="http://schemas.microsoft.com/office/powerpoint/2010/main" val="147106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Dalgalı çizgilerle doldurulan bir daire">
            <a:extLst>
              <a:ext uri="{FF2B5EF4-FFF2-40B4-BE49-F238E27FC236}">
                <a16:creationId xmlns:a16="http://schemas.microsoft.com/office/drawing/2014/main" id="{65E155F1-A0CA-D663-3DCD-7692FA310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8348" y="-481330"/>
            <a:ext cx="4324986" cy="4324986"/>
          </a:xfrm>
          <a:prstGeom prst="rect">
            <a:avLst/>
          </a:prstGeom>
        </p:spPr>
      </p:pic>
      <p:sp>
        <p:nvSpPr>
          <p:cNvPr id="3" name="Metin Yer Tutucusu 2">
            <a:extLst>
              <a:ext uri="{FF2B5EF4-FFF2-40B4-BE49-F238E27FC236}">
                <a16:creationId xmlns:a16="http://schemas.microsoft.com/office/drawing/2014/main" id="{E1565F0E-8ECF-3ECD-F162-F831343079F9}"/>
              </a:ext>
            </a:extLst>
          </p:cNvPr>
          <p:cNvSpPr>
            <a:spLocks noGrp="1"/>
          </p:cNvSpPr>
          <p:nvPr>
            <p:ph type="body" idx="1"/>
          </p:nvPr>
        </p:nvSpPr>
        <p:spPr/>
        <p:txBody>
          <a:bodyPr/>
          <a:lstStyle/>
          <a:p>
            <a:r>
              <a:rPr lang="tr-TR" sz="2400" dirty="0"/>
              <a:t>Amaç Nedir?</a:t>
            </a:r>
            <a:endParaRPr lang="tr-TR" dirty="0"/>
          </a:p>
        </p:txBody>
      </p:sp>
      <p:sp>
        <p:nvSpPr>
          <p:cNvPr id="4" name="İçerik Yer Tutucusu 3">
            <a:extLst>
              <a:ext uri="{FF2B5EF4-FFF2-40B4-BE49-F238E27FC236}">
                <a16:creationId xmlns:a16="http://schemas.microsoft.com/office/drawing/2014/main" id="{FB686CAD-FD50-7EFF-549B-E66FEE729ABD}"/>
              </a:ext>
            </a:extLst>
          </p:cNvPr>
          <p:cNvSpPr>
            <a:spLocks noGrp="1"/>
          </p:cNvSpPr>
          <p:nvPr>
            <p:ph sz="half" idx="2"/>
          </p:nvPr>
        </p:nvSpPr>
        <p:spPr/>
        <p:txBody>
          <a:bodyPr>
            <a:normAutofit/>
          </a:bodyPr>
          <a:lstStyle/>
          <a:p>
            <a:pPr marL="0" indent="0">
              <a:buNone/>
            </a:pPr>
            <a:r>
              <a:rPr lang="tr-TR" sz="2400" dirty="0">
                <a:solidFill>
                  <a:srgbClr val="353132"/>
                </a:solidFill>
              </a:rPr>
              <a:t>Bu iş süreç analizinin amacı, </a:t>
            </a:r>
            <a:r>
              <a:rPr lang="tr-TR" sz="2400" b="1" dirty="0">
                <a:solidFill>
                  <a:srgbClr val="353132"/>
                </a:solidFill>
              </a:rPr>
              <a:t>NTT Data şirketinin SAP destek süreçlerini</a:t>
            </a:r>
            <a:r>
              <a:rPr lang="tr-TR" sz="2400" dirty="0">
                <a:solidFill>
                  <a:srgbClr val="353132"/>
                </a:solidFill>
              </a:rPr>
              <a:t> </a:t>
            </a:r>
            <a:r>
              <a:rPr lang="tr-TR" sz="2400" i="1" dirty="0">
                <a:solidFill>
                  <a:srgbClr val="353132"/>
                </a:solidFill>
              </a:rPr>
              <a:t>(</a:t>
            </a:r>
            <a:r>
              <a:rPr lang="tr-TR" sz="2400" i="1" dirty="0" err="1">
                <a:solidFill>
                  <a:srgbClr val="353132"/>
                </a:solidFill>
              </a:rPr>
              <a:t>ticket</a:t>
            </a:r>
            <a:r>
              <a:rPr lang="tr-TR" sz="2400" i="1" dirty="0">
                <a:solidFill>
                  <a:srgbClr val="353132"/>
                </a:solidFill>
              </a:rPr>
              <a:t> yönetim süreci)</a:t>
            </a:r>
            <a:r>
              <a:rPr lang="tr-TR" sz="2400" dirty="0">
                <a:solidFill>
                  <a:srgbClr val="353132"/>
                </a:solidFill>
              </a:rPr>
              <a:t> inceleyerek, müşteri taleplerinin SAP </a:t>
            </a:r>
            <a:r>
              <a:rPr lang="tr-TR" sz="2400" dirty="0" err="1">
                <a:solidFill>
                  <a:srgbClr val="353132"/>
                </a:solidFill>
              </a:rPr>
              <a:t>ticket</a:t>
            </a:r>
            <a:r>
              <a:rPr lang="tr-TR" sz="2400" dirty="0">
                <a:solidFill>
                  <a:srgbClr val="353132"/>
                </a:solidFill>
              </a:rPr>
              <a:t> sistemi üzerinden yönetildiği aşamalarda yaşanan </a:t>
            </a:r>
            <a:r>
              <a:rPr lang="tr-TR" sz="2400" b="1" dirty="0">
                <a:solidFill>
                  <a:srgbClr val="353132"/>
                </a:solidFill>
              </a:rPr>
              <a:t>gecikmeler</a:t>
            </a:r>
            <a:r>
              <a:rPr lang="tr-TR" sz="2400" dirty="0">
                <a:solidFill>
                  <a:srgbClr val="353132"/>
                </a:solidFill>
              </a:rPr>
              <a:t>, </a:t>
            </a:r>
            <a:r>
              <a:rPr lang="tr-TR" sz="2400" b="1" dirty="0">
                <a:solidFill>
                  <a:srgbClr val="353132"/>
                </a:solidFill>
              </a:rPr>
              <a:t>SLA ihlalleri </a:t>
            </a:r>
            <a:r>
              <a:rPr lang="tr-TR" sz="2400" dirty="0">
                <a:solidFill>
                  <a:srgbClr val="353132"/>
                </a:solidFill>
              </a:rPr>
              <a:t>ve müşteri memnuniyetsizliği gibi sorunları analiz etmek; </a:t>
            </a:r>
            <a:r>
              <a:rPr lang="tr-TR" sz="2400" b="1" dirty="0">
                <a:solidFill>
                  <a:srgbClr val="353132"/>
                </a:solidFill>
              </a:rPr>
              <a:t>hizmet kalitesini artırmak </a:t>
            </a:r>
            <a:r>
              <a:rPr lang="tr-TR" sz="2400" dirty="0">
                <a:solidFill>
                  <a:srgbClr val="353132"/>
                </a:solidFill>
              </a:rPr>
              <a:t>ve </a:t>
            </a:r>
            <a:r>
              <a:rPr lang="tr-TR" sz="2400" b="1" dirty="0">
                <a:solidFill>
                  <a:srgbClr val="353132"/>
                </a:solidFill>
              </a:rPr>
              <a:t>süreci iyileştirmektir</a:t>
            </a:r>
            <a:r>
              <a:rPr lang="tr-TR" sz="2400" dirty="0">
                <a:solidFill>
                  <a:srgbClr val="353132"/>
                </a:solidFill>
              </a:rPr>
              <a:t>.</a:t>
            </a:r>
          </a:p>
          <a:p>
            <a:pPr marL="0" indent="0">
              <a:buNone/>
            </a:pPr>
            <a:endParaRPr lang="tr-TR" sz="2400" dirty="0"/>
          </a:p>
        </p:txBody>
      </p:sp>
      <p:sp>
        <p:nvSpPr>
          <p:cNvPr id="5" name="Metin Yer Tutucusu 4">
            <a:extLst>
              <a:ext uri="{FF2B5EF4-FFF2-40B4-BE49-F238E27FC236}">
                <a16:creationId xmlns:a16="http://schemas.microsoft.com/office/drawing/2014/main" id="{F9E77DB2-FC26-D60B-DE4E-50D42DF046F7}"/>
              </a:ext>
            </a:extLst>
          </p:cNvPr>
          <p:cNvSpPr>
            <a:spLocks noGrp="1"/>
          </p:cNvSpPr>
          <p:nvPr>
            <p:ph type="body" sz="quarter" idx="3"/>
          </p:nvPr>
        </p:nvSpPr>
        <p:spPr>
          <a:xfrm>
            <a:off x="6194427" y="2830677"/>
            <a:ext cx="5183188" cy="823912"/>
          </a:xfrm>
        </p:spPr>
        <p:txBody>
          <a:bodyPr/>
          <a:lstStyle/>
          <a:p>
            <a:r>
              <a:rPr lang="tr-TR" sz="2400" dirty="0"/>
              <a:t>Ele Alınan Süreç Nedir?</a:t>
            </a:r>
            <a:endParaRPr lang="tr-TR" dirty="0"/>
          </a:p>
        </p:txBody>
      </p:sp>
      <p:sp>
        <p:nvSpPr>
          <p:cNvPr id="6" name="İçerik Yer Tutucusu 5">
            <a:extLst>
              <a:ext uri="{FF2B5EF4-FFF2-40B4-BE49-F238E27FC236}">
                <a16:creationId xmlns:a16="http://schemas.microsoft.com/office/drawing/2014/main" id="{9F904DE3-CACC-4C46-FF49-F1B87C8A2D6C}"/>
              </a:ext>
            </a:extLst>
          </p:cNvPr>
          <p:cNvSpPr>
            <a:spLocks noGrp="1"/>
          </p:cNvSpPr>
          <p:nvPr>
            <p:ph sz="quarter" idx="4"/>
          </p:nvPr>
        </p:nvSpPr>
        <p:spPr>
          <a:xfrm>
            <a:off x="6194427" y="3734435"/>
            <a:ext cx="5183188" cy="2097405"/>
          </a:xfrm>
        </p:spPr>
        <p:txBody>
          <a:bodyPr>
            <a:normAutofit/>
          </a:bodyPr>
          <a:lstStyle/>
          <a:p>
            <a:pPr marL="0" indent="0">
              <a:buNone/>
            </a:pPr>
            <a:r>
              <a:rPr lang="tr-TR" sz="2400" b="0" i="0" dirty="0">
                <a:solidFill>
                  <a:srgbClr val="353132"/>
                </a:solidFill>
                <a:effectLst/>
              </a:rPr>
              <a:t>Ele alınan süreç, müşteri firmalardan gelen SAP sisteminde oluşan bir sorun ya da değişiklik talebinin, </a:t>
            </a:r>
            <a:r>
              <a:rPr lang="tr-TR" sz="2400" b="1" i="0" dirty="0">
                <a:solidFill>
                  <a:srgbClr val="353132"/>
                </a:solidFill>
                <a:effectLst/>
              </a:rPr>
              <a:t>SAP destek ekibi tarafından yönetilmesini ve çözülmesini </a:t>
            </a:r>
            <a:r>
              <a:rPr lang="tr-TR" sz="2400" b="0" i="0" dirty="0">
                <a:solidFill>
                  <a:srgbClr val="353132"/>
                </a:solidFill>
                <a:effectLst/>
              </a:rPr>
              <a:t>kapsamaktadır.</a:t>
            </a:r>
            <a:endParaRPr lang="tr-TR" sz="2400" dirty="0"/>
          </a:p>
        </p:txBody>
      </p:sp>
      <p:pic>
        <p:nvPicPr>
          <p:cNvPr id="8" name="Grafik 7" descr="Dizüstü bilgisayar tutan kadın">
            <a:extLst>
              <a:ext uri="{FF2B5EF4-FFF2-40B4-BE49-F238E27FC236}">
                <a16:creationId xmlns:a16="http://schemas.microsoft.com/office/drawing/2014/main" id="{3A6D0E97-5AC1-63F4-0AD7-2EAC89E0EAF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9022080" y="125249"/>
            <a:ext cx="2662711" cy="2705428"/>
          </a:xfrm>
          <a:prstGeom prst="rect">
            <a:avLst/>
          </a:prstGeom>
        </p:spPr>
      </p:pic>
      <p:pic>
        <p:nvPicPr>
          <p:cNvPr id="10" name="Grafik 9" descr="Organik köşe şekli">
            <a:extLst>
              <a:ext uri="{FF2B5EF4-FFF2-40B4-BE49-F238E27FC236}">
                <a16:creationId xmlns:a16="http://schemas.microsoft.com/office/drawing/2014/main" id="{4455C58E-2A94-1C80-F99F-A10156DC493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0"/>
            <a:ext cx="4145280" cy="4145280"/>
          </a:xfrm>
          <a:prstGeom prst="rect">
            <a:avLst/>
          </a:prstGeom>
        </p:spPr>
      </p:pic>
    </p:spTree>
    <p:extLst>
      <p:ext uri="{BB962C8B-B14F-4D97-AF65-F5344CB8AC3E}">
        <p14:creationId xmlns:p14="http://schemas.microsoft.com/office/powerpoint/2010/main" val="58166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AD1004FD-1FCB-6EAD-C49B-06C005C3E882}"/>
              </a:ext>
            </a:extLst>
          </p:cNvPr>
          <p:cNvSpPr txBox="1"/>
          <p:nvPr/>
        </p:nvSpPr>
        <p:spPr>
          <a:xfrm>
            <a:off x="3048000" y="0"/>
            <a:ext cx="6096000" cy="584775"/>
          </a:xfrm>
          <a:prstGeom prst="rect">
            <a:avLst/>
          </a:prstGeom>
          <a:noFill/>
        </p:spPr>
        <p:txBody>
          <a:bodyPr wrap="square">
            <a:spAutoFit/>
          </a:bodyPr>
          <a:lstStyle/>
          <a:p>
            <a:pPr algn="ctr"/>
            <a:r>
              <a:rPr lang="tr-TR" sz="3200" b="1" dirty="0"/>
              <a:t>Süreç</a:t>
            </a:r>
            <a:r>
              <a:rPr lang="tr-TR" dirty="0"/>
              <a:t> </a:t>
            </a:r>
            <a:r>
              <a:rPr lang="tr-TR" sz="3200" b="1" dirty="0"/>
              <a:t>Tanımlama</a:t>
            </a:r>
          </a:p>
        </p:txBody>
      </p:sp>
      <p:pic>
        <p:nvPicPr>
          <p:cNvPr id="5" name="Grafik 4" descr="Yüz artı adam">
            <a:extLst>
              <a:ext uri="{FF2B5EF4-FFF2-40B4-BE49-F238E27FC236}">
                <a16:creationId xmlns:a16="http://schemas.microsoft.com/office/drawing/2014/main" id="{98912A74-63AB-76E6-EC01-484E8F489D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654" y="725087"/>
            <a:ext cx="1536226" cy="2081698"/>
          </a:xfrm>
          <a:prstGeom prst="rect">
            <a:avLst/>
          </a:prstGeom>
        </p:spPr>
      </p:pic>
      <p:sp>
        <p:nvSpPr>
          <p:cNvPr id="7" name="Metin kutusu 6">
            <a:extLst>
              <a:ext uri="{FF2B5EF4-FFF2-40B4-BE49-F238E27FC236}">
                <a16:creationId xmlns:a16="http://schemas.microsoft.com/office/drawing/2014/main" id="{D3397DBA-C7D1-530E-7E3B-58A6F7F53E94}"/>
              </a:ext>
            </a:extLst>
          </p:cNvPr>
          <p:cNvSpPr txBox="1"/>
          <p:nvPr/>
        </p:nvSpPr>
        <p:spPr>
          <a:xfrm>
            <a:off x="2214880" y="1203516"/>
            <a:ext cx="3503706" cy="923330"/>
          </a:xfrm>
          <a:prstGeom prst="rect">
            <a:avLst/>
          </a:prstGeom>
          <a:noFill/>
        </p:spPr>
        <p:txBody>
          <a:bodyPr wrap="square" rtlCol="0">
            <a:spAutoFit/>
          </a:bodyPr>
          <a:lstStyle/>
          <a:p>
            <a:r>
              <a:rPr lang="tr-TR" dirty="0"/>
              <a:t>1- Müşteri sorunu için </a:t>
            </a:r>
            <a:r>
              <a:rPr lang="tr-TR" dirty="0" err="1"/>
              <a:t>SolMan</a:t>
            </a:r>
            <a:r>
              <a:rPr lang="tr-TR" dirty="0"/>
              <a:t> sisteminden talep oluşturur. </a:t>
            </a:r>
            <a:r>
              <a:rPr lang="tr-TR" dirty="0" err="1"/>
              <a:t>Ticket</a:t>
            </a:r>
            <a:r>
              <a:rPr lang="tr-TR" dirty="0"/>
              <a:t> durumu OPEN olur.</a:t>
            </a:r>
          </a:p>
        </p:txBody>
      </p:sp>
      <p:pic>
        <p:nvPicPr>
          <p:cNvPr id="9" name="Grafik 8" descr="Yuvarlak alarm saati">
            <a:extLst>
              <a:ext uri="{FF2B5EF4-FFF2-40B4-BE49-F238E27FC236}">
                <a16:creationId xmlns:a16="http://schemas.microsoft.com/office/drawing/2014/main" id="{9EC2BBDC-968F-97E0-CC83-E94BE0502F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46563" y="1085591"/>
            <a:ext cx="975360" cy="1359878"/>
          </a:xfrm>
          <a:prstGeom prst="rect">
            <a:avLst/>
          </a:prstGeom>
        </p:spPr>
      </p:pic>
      <p:sp>
        <p:nvSpPr>
          <p:cNvPr id="10" name="Metin kutusu 9">
            <a:extLst>
              <a:ext uri="{FF2B5EF4-FFF2-40B4-BE49-F238E27FC236}">
                <a16:creationId xmlns:a16="http://schemas.microsoft.com/office/drawing/2014/main" id="{80B4B7D2-FC53-5641-D7DF-3E38046AEB41}"/>
              </a:ext>
            </a:extLst>
          </p:cNvPr>
          <p:cNvSpPr txBox="1"/>
          <p:nvPr/>
        </p:nvSpPr>
        <p:spPr>
          <a:xfrm>
            <a:off x="7819880" y="1026866"/>
            <a:ext cx="2343437" cy="1477328"/>
          </a:xfrm>
          <a:prstGeom prst="rect">
            <a:avLst/>
          </a:prstGeom>
          <a:noFill/>
        </p:spPr>
        <p:txBody>
          <a:bodyPr wrap="square" rtlCol="0">
            <a:spAutoFit/>
          </a:bodyPr>
          <a:lstStyle/>
          <a:p>
            <a:r>
              <a:rPr lang="tr-TR" dirty="0"/>
              <a:t>3-Ticket oluşturulduğu anda SLA (hizmet servis sözleşmesi) başlamaktadır. </a:t>
            </a:r>
          </a:p>
        </p:txBody>
      </p:sp>
      <p:sp>
        <p:nvSpPr>
          <p:cNvPr id="13" name="Metin kutusu 12">
            <a:extLst>
              <a:ext uri="{FF2B5EF4-FFF2-40B4-BE49-F238E27FC236}">
                <a16:creationId xmlns:a16="http://schemas.microsoft.com/office/drawing/2014/main" id="{341D58F4-4FD4-93BA-31D3-E4177DAEBEF6}"/>
              </a:ext>
            </a:extLst>
          </p:cNvPr>
          <p:cNvSpPr txBox="1"/>
          <p:nvPr/>
        </p:nvSpPr>
        <p:spPr>
          <a:xfrm>
            <a:off x="1177066" y="3270591"/>
            <a:ext cx="4541520" cy="2862322"/>
          </a:xfrm>
          <a:prstGeom prst="rect">
            <a:avLst/>
          </a:prstGeom>
          <a:noFill/>
        </p:spPr>
        <p:txBody>
          <a:bodyPr wrap="square" rtlCol="0">
            <a:spAutoFit/>
          </a:bodyPr>
          <a:lstStyle/>
          <a:p>
            <a:r>
              <a:rPr lang="tr-TR" dirty="0"/>
              <a:t>2-Ticket oluşturma esnasında ‘</a:t>
            </a:r>
            <a:r>
              <a:rPr lang="tr-TR" dirty="0" err="1"/>
              <a:t>priority</a:t>
            </a:r>
            <a:r>
              <a:rPr lang="tr-TR" dirty="0"/>
              <a:t> </a:t>
            </a:r>
            <a:r>
              <a:rPr lang="tr-TR" i="1" dirty="0"/>
              <a:t>(öncelik)’ </a:t>
            </a:r>
            <a:r>
              <a:rPr lang="tr-TR" dirty="0"/>
              <a:t>, ‘</a:t>
            </a:r>
            <a:r>
              <a:rPr lang="tr-TR" dirty="0" err="1"/>
              <a:t>classification</a:t>
            </a:r>
            <a:r>
              <a:rPr lang="tr-TR" dirty="0"/>
              <a:t> </a:t>
            </a:r>
            <a:r>
              <a:rPr lang="tr-TR" i="1" dirty="0"/>
              <a:t>(sınıflandırma)’ </a:t>
            </a:r>
            <a:r>
              <a:rPr lang="tr-TR" dirty="0"/>
              <a:t>ve ‘SAP </a:t>
            </a:r>
            <a:r>
              <a:rPr lang="tr-TR" dirty="0" err="1"/>
              <a:t>component</a:t>
            </a:r>
            <a:r>
              <a:rPr lang="tr-TR" dirty="0"/>
              <a:t> </a:t>
            </a:r>
            <a:r>
              <a:rPr lang="tr-TR" i="1" dirty="0"/>
              <a:t>(SAP modülü)’ </a:t>
            </a:r>
            <a:r>
              <a:rPr lang="tr-TR" dirty="0"/>
              <a:t>alanlarının doldurulması zorunludur.</a:t>
            </a:r>
          </a:p>
          <a:p>
            <a:r>
              <a:rPr lang="tr-TR" b="1" dirty="0"/>
              <a:t>Ancak müşteri yanlış öncelik, açıklama vb. oluşturmaktadır. </a:t>
            </a:r>
          </a:p>
          <a:p>
            <a:pPr algn="ctr"/>
            <a:r>
              <a:rPr lang="tr-TR" b="1" dirty="0">
                <a:solidFill>
                  <a:schemeClr val="accent5"/>
                </a:solidFill>
              </a:rPr>
              <a:t>İyileştirme Önerisi</a:t>
            </a:r>
          </a:p>
          <a:p>
            <a:pPr algn="ctr"/>
            <a:r>
              <a:rPr lang="tr-TR" dirty="0" err="1"/>
              <a:t>Ticketın</a:t>
            </a:r>
            <a:r>
              <a:rPr lang="tr-TR" dirty="0"/>
              <a:t> AI ile analiz edilerek geçmiş </a:t>
            </a:r>
            <a:r>
              <a:rPr lang="tr-TR" dirty="0" err="1"/>
              <a:t>ticketlara</a:t>
            </a:r>
            <a:r>
              <a:rPr lang="tr-TR" dirty="0"/>
              <a:t> göre kontrol edilmesi ve gerekliliklerin doğru atanmasıdır. </a:t>
            </a:r>
          </a:p>
        </p:txBody>
      </p:sp>
      <p:sp>
        <p:nvSpPr>
          <p:cNvPr id="19" name="Metin kutusu 18">
            <a:extLst>
              <a:ext uri="{FF2B5EF4-FFF2-40B4-BE49-F238E27FC236}">
                <a16:creationId xmlns:a16="http://schemas.microsoft.com/office/drawing/2014/main" id="{C63F54B2-9609-EAB9-FD59-E6E4E1F1A394}"/>
              </a:ext>
            </a:extLst>
          </p:cNvPr>
          <p:cNvSpPr txBox="1"/>
          <p:nvPr/>
        </p:nvSpPr>
        <p:spPr>
          <a:xfrm>
            <a:off x="6791959" y="3299994"/>
            <a:ext cx="4399280" cy="2308324"/>
          </a:xfrm>
          <a:prstGeom prst="rect">
            <a:avLst/>
          </a:prstGeom>
          <a:noFill/>
        </p:spPr>
        <p:txBody>
          <a:bodyPr wrap="square">
            <a:spAutoFit/>
          </a:bodyPr>
          <a:lstStyle/>
          <a:p>
            <a:r>
              <a:rPr lang="tr-TR" dirty="0"/>
              <a:t>4- Oluşturulan talep </a:t>
            </a:r>
            <a:r>
              <a:rPr lang="tr-TR" sz="1800" dirty="0">
                <a:effectLst/>
                <a:latin typeface="Times New Roman" panose="02020603050405020304" pitchFamily="18" charset="0"/>
                <a:ea typeface="DengXian" panose="02010600030101010101" pitchFamily="2" charset="-122"/>
              </a:rPr>
              <a:t>Service </a:t>
            </a:r>
            <a:r>
              <a:rPr lang="tr-TR" sz="1800" dirty="0" err="1">
                <a:effectLst/>
                <a:latin typeface="Times New Roman" panose="02020603050405020304" pitchFamily="18" charset="0"/>
                <a:ea typeface="DengXian" panose="02010600030101010101" pitchFamily="2" charset="-122"/>
              </a:rPr>
              <a:t>Desk</a:t>
            </a:r>
            <a:r>
              <a:rPr lang="tr-TR" sz="1800" dirty="0">
                <a:effectLst/>
                <a:latin typeface="Times New Roman" panose="02020603050405020304" pitchFamily="18" charset="0"/>
                <a:ea typeface="DengXian" panose="02010600030101010101" pitchFamily="2" charset="-122"/>
              </a:rPr>
              <a:t> </a:t>
            </a:r>
            <a:r>
              <a:rPr lang="tr-TR" sz="1800" dirty="0" err="1">
                <a:effectLst/>
                <a:latin typeface="Times New Roman" panose="02020603050405020304" pitchFamily="18" charset="0"/>
                <a:ea typeface="DengXian" panose="02010600030101010101" pitchFamily="2" charset="-122"/>
              </a:rPr>
              <a:t>Manager’a</a:t>
            </a:r>
            <a:r>
              <a:rPr lang="tr-TR" sz="1800" dirty="0">
                <a:effectLst/>
                <a:latin typeface="Times New Roman" panose="02020603050405020304" pitchFamily="18" charset="0"/>
                <a:ea typeface="DengXian" panose="02010600030101010101" pitchFamily="2" charset="-122"/>
              </a:rPr>
              <a:t> mail olarak gelir. Ama bu mail yolu gecikmeye neden olmaktadır, danışman maili geç görmektedir. </a:t>
            </a:r>
          </a:p>
          <a:p>
            <a:pPr algn="ctr"/>
            <a:r>
              <a:rPr lang="tr-TR" b="1" dirty="0">
                <a:solidFill>
                  <a:schemeClr val="accent5"/>
                </a:solidFill>
              </a:rPr>
              <a:t>İyileştirme Önerisi</a:t>
            </a:r>
          </a:p>
          <a:p>
            <a:r>
              <a:rPr lang="tr-TR" sz="1800" dirty="0" err="1">
                <a:effectLst/>
                <a:latin typeface="Times New Roman" panose="02020603050405020304" pitchFamily="18" charset="0"/>
                <a:ea typeface="DengXian" panose="02010600030101010101" pitchFamily="2" charset="-122"/>
              </a:rPr>
              <a:t>Ticket’ın</a:t>
            </a:r>
            <a:r>
              <a:rPr lang="tr-TR" sz="1800" dirty="0">
                <a:effectLst/>
                <a:latin typeface="Times New Roman" panose="02020603050405020304" pitchFamily="18" charset="0"/>
                <a:ea typeface="DengXian" panose="02010600030101010101" pitchFamily="2" charset="-122"/>
              </a:rPr>
              <a:t> Service </a:t>
            </a:r>
            <a:r>
              <a:rPr lang="tr-TR" sz="1800" dirty="0" err="1">
                <a:effectLst/>
                <a:latin typeface="Times New Roman" panose="02020603050405020304" pitchFamily="18" charset="0"/>
                <a:ea typeface="DengXian" panose="02010600030101010101" pitchFamily="2" charset="-122"/>
              </a:rPr>
              <a:t>Desk</a:t>
            </a:r>
            <a:r>
              <a:rPr lang="tr-TR" sz="1800" dirty="0">
                <a:effectLst/>
                <a:latin typeface="Times New Roman" panose="02020603050405020304" pitchFamily="18" charset="0"/>
                <a:ea typeface="DengXian" panose="02010600030101010101" pitchFamily="2" charset="-122"/>
              </a:rPr>
              <a:t> </a:t>
            </a:r>
            <a:r>
              <a:rPr lang="tr-TR" sz="1800" dirty="0" err="1">
                <a:effectLst/>
                <a:latin typeface="Times New Roman" panose="02020603050405020304" pitchFamily="18" charset="0"/>
                <a:ea typeface="DengXian" panose="02010600030101010101" pitchFamily="2" charset="-122"/>
              </a:rPr>
              <a:t>Manager’a</a:t>
            </a:r>
            <a:r>
              <a:rPr lang="tr-TR" sz="1800" dirty="0">
                <a:effectLst/>
                <a:latin typeface="Times New Roman" panose="02020603050405020304" pitchFamily="18" charset="0"/>
                <a:ea typeface="DengXian" panose="02010600030101010101" pitchFamily="2" charset="-122"/>
              </a:rPr>
              <a:t> bildirimi sadece mail değil, aynı anda </a:t>
            </a:r>
            <a:r>
              <a:rPr lang="tr-TR" sz="1800" dirty="0" err="1">
                <a:effectLst/>
                <a:latin typeface="Times New Roman" panose="02020603050405020304" pitchFamily="18" charset="0"/>
                <a:ea typeface="DengXian" panose="02010600030101010101" pitchFamily="2" charset="-122"/>
              </a:rPr>
              <a:t>Teams</a:t>
            </a:r>
            <a:r>
              <a:rPr lang="tr-TR" sz="1800" dirty="0">
                <a:effectLst/>
                <a:latin typeface="Times New Roman" panose="02020603050405020304" pitchFamily="18" charset="0"/>
                <a:ea typeface="DengXian" panose="02010600030101010101" pitchFamily="2" charset="-122"/>
              </a:rPr>
              <a:t>, mobil ve pop-</a:t>
            </a:r>
            <a:r>
              <a:rPr lang="tr-TR" sz="1800" dirty="0" err="1">
                <a:effectLst/>
                <a:latin typeface="Times New Roman" panose="02020603050405020304" pitchFamily="18" charset="0"/>
                <a:ea typeface="DengXian" panose="02010600030101010101" pitchFamily="2" charset="-122"/>
              </a:rPr>
              <a:t>up</a:t>
            </a:r>
            <a:r>
              <a:rPr lang="tr-TR" sz="1800" dirty="0">
                <a:effectLst/>
                <a:latin typeface="Times New Roman" panose="02020603050405020304" pitchFamily="18" charset="0"/>
                <a:ea typeface="DengXian" panose="02010600030101010101" pitchFamily="2" charset="-122"/>
              </a:rPr>
              <a:t> şeklinde gönderilmesi.</a:t>
            </a:r>
            <a:endParaRPr lang="tr-TR" dirty="0"/>
          </a:p>
        </p:txBody>
      </p:sp>
      <p:pic>
        <p:nvPicPr>
          <p:cNvPr id="39" name="Grafik 38" descr="İş Attire adam">
            <a:extLst>
              <a:ext uri="{FF2B5EF4-FFF2-40B4-BE49-F238E27FC236}">
                <a16:creationId xmlns:a16="http://schemas.microsoft.com/office/drawing/2014/main" id="{120397FA-6E73-BC28-A020-3378FBA35E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781060" y="4954115"/>
            <a:ext cx="1304925" cy="1762125"/>
          </a:xfrm>
          <a:prstGeom prst="rect">
            <a:avLst/>
          </a:prstGeom>
        </p:spPr>
      </p:pic>
    </p:spTree>
    <p:extLst>
      <p:ext uri="{BB962C8B-B14F-4D97-AF65-F5344CB8AC3E}">
        <p14:creationId xmlns:p14="http://schemas.microsoft.com/office/powerpoint/2010/main" val="4187699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withEffect">
                                  <p:stCondLst>
                                    <p:cond delay="0"/>
                                  </p:stCondLst>
                                  <p:childTnLst>
                                    <p:animRot by="120000">
                                      <p:cBhvr>
                                        <p:cTn id="6" dur="500" fill="hold">
                                          <p:stCondLst>
                                            <p:cond delay="0"/>
                                          </p:stCondLst>
                                        </p:cTn>
                                        <p:tgtEl>
                                          <p:spTgt spid="9"/>
                                        </p:tgtEl>
                                        <p:attrNameLst>
                                          <p:attrName>r</p:attrName>
                                        </p:attrNameLst>
                                      </p:cBhvr>
                                    </p:animRot>
                                    <p:animRot by="-240000">
                                      <p:cBhvr>
                                        <p:cTn id="7" dur="1000" fill="hold">
                                          <p:stCondLst>
                                            <p:cond delay="1000"/>
                                          </p:stCondLst>
                                        </p:cTn>
                                        <p:tgtEl>
                                          <p:spTgt spid="9"/>
                                        </p:tgtEl>
                                        <p:attrNameLst>
                                          <p:attrName>r</p:attrName>
                                        </p:attrNameLst>
                                      </p:cBhvr>
                                    </p:animRot>
                                    <p:animRot by="240000">
                                      <p:cBhvr>
                                        <p:cTn id="8" dur="1000" fill="hold">
                                          <p:stCondLst>
                                            <p:cond delay="2000"/>
                                          </p:stCondLst>
                                        </p:cTn>
                                        <p:tgtEl>
                                          <p:spTgt spid="9"/>
                                        </p:tgtEl>
                                        <p:attrNameLst>
                                          <p:attrName>r</p:attrName>
                                        </p:attrNameLst>
                                      </p:cBhvr>
                                    </p:animRot>
                                    <p:animRot by="-240000">
                                      <p:cBhvr>
                                        <p:cTn id="9" dur="1000" fill="hold">
                                          <p:stCondLst>
                                            <p:cond delay="3000"/>
                                          </p:stCondLst>
                                        </p:cTn>
                                        <p:tgtEl>
                                          <p:spTgt spid="9"/>
                                        </p:tgtEl>
                                        <p:attrNameLst>
                                          <p:attrName>r</p:attrName>
                                        </p:attrNameLst>
                                      </p:cBhvr>
                                    </p:animRot>
                                    <p:animRot by="120000">
                                      <p:cBhvr>
                                        <p:cTn id="10" dur="1000" fill="hold">
                                          <p:stCondLst>
                                            <p:cond delay="40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43414252-B516-A136-12DF-0862A311FA09}"/>
              </a:ext>
            </a:extLst>
          </p:cNvPr>
          <p:cNvSpPr txBox="1"/>
          <p:nvPr/>
        </p:nvSpPr>
        <p:spPr>
          <a:xfrm>
            <a:off x="829538" y="2546250"/>
            <a:ext cx="4978347" cy="3970318"/>
          </a:xfrm>
          <a:prstGeom prst="rect">
            <a:avLst/>
          </a:prstGeom>
          <a:noFill/>
        </p:spPr>
        <p:txBody>
          <a:bodyPr wrap="square" rtlCol="0">
            <a:spAutoFit/>
          </a:bodyPr>
          <a:lstStyle/>
          <a:p>
            <a:r>
              <a:rPr lang="tr-TR" dirty="0"/>
              <a:t>5- Müşteri talebi kontrol edilir ve ilgili modül danışmanına atanır. </a:t>
            </a:r>
            <a:r>
              <a:rPr lang="tr-TR" dirty="0" err="1"/>
              <a:t>Ticket</a:t>
            </a:r>
            <a:r>
              <a:rPr lang="tr-TR" dirty="0"/>
              <a:t> durumu  ‘</a:t>
            </a:r>
            <a:r>
              <a:rPr lang="tr-TR" dirty="0" err="1"/>
              <a:t>assgined</a:t>
            </a:r>
            <a:r>
              <a:rPr lang="tr-TR" dirty="0"/>
              <a:t> (onaylandı)’ olur. Se</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rvice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Desk</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Manager’ın</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SAP modülleri hakkında sınırlı bilgisi olması nedeniyle yanlış atama yapması çözümün uzamasına neden olmaktadır.</a:t>
            </a:r>
            <a:endParaRPr lang="tr-TR" sz="18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tr-TR" dirty="0"/>
          </a:p>
          <a:p>
            <a:pPr algn="ctr"/>
            <a:r>
              <a:rPr lang="tr-TR" b="1" dirty="0">
                <a:solidFill>
                  <a:schemeClr val="accent5"/>
                </a:solidFill>
              </a:rPr>
              <a:t>İyileştirme Önerisi</a:t>
            </a:r>
            <a:endParaRPr lang="tr-TR" dirty="0">
              <a:solidFill>
                <a:schemeClr val="accent5"/>
              </a:solidFill>
            </a:endParaRPr>
          </a:p>
          <a:p>
            <a:r>
              <a:rPr lang="tr-TR" sz="1800" dirty="0">
                <a:effectLst/>
                <a:latin typeface="Times New Roman" panose="02020603050405020304" pitchFamily="18" charset="0"/>
                <a:ea typeface="DengXian" panose="02010600030101010101" pitchFamily="2" charset="-122"/>
              </a:rPr>
              <a:t>AI destekli sistemin, </a:t>
            </a:r>
            <a:r>
              <a:rPr lang="tr-TR" sz="1800" dirty="0" err="1">
                <a:effectLst/>
                <a:latin typeface="Times New Roman" panose="02020603050405020304" pitchFamily="18" charset="0"/>
                <a:ea typeface="DengXian" panose="02010600030101010101" pitchFamily="2" charset="-122"/>
              </a:rPr>
              <a:t>ticket</a:t>
            </a:r>
            <a:r>
              <a:rPr lang="tr-TR" sz="1800" dirty="0">
                <a:effectLst/>
                <a:latin typeface="Times New Roman" panose="02020603050405020304" pitchFamily="18" charset="0"/>
                <a:ea typeface="DengXian" panose="02010600030101010101" pitchFamily="2" charset="-122"/>
              </a:rPr>
              <a:t> açıklamasına göre doğru modülü ve danışmanı önermesi ve zor </a:t>
            </a:r>
            <a:r>
              <a:rPr lang="tr-TR" sz="1800" dirty="0" err="1">
                <a:effectLst/>
                <a:latin typeface="Times New Roman" panose="02020603050405020304" pitchFamily="18" charset="0"/>
                <a:ea typeface="DengXian" panose="02010600030101010101" pitchFamily="2" charset="-122"/>
              </a:rPr>
              <a:t>ticketları</a:t>
            </a:r>
            <a:r>
              <a:rPr lang="tr-TR" sz="1800" dirty="0">
                <a:effectLst/>
                <a:latin typeface="Times New Roman" panose="02020603050405020304" pitchFamily="18" charset="0"/>
                <a:ea typeface="DengXian" panose="02010600030101010101" pitchFamily="2" charset="-122"/>
              </a:rPr>
              <a:t> doğrudan daha kıdemli danışmana atanması veya birlikte çalışabilecek 2. kişi tanımlanması. Danışman meşgulse back-up sisteminin uygulanması.</a:t>
            </a:r>
            <a:endParaRPr lang="tr-TR" dirty="0"/>
          </a:p>
        </p:txBody>
      </p:sp>
      <p:sp>
        <p:nvSpPr>
          <p:cNvPr id="5" name="Metin kutusu 4">
            <a:extLst>
              <a:ext uri="{FF2B5EF4-FFF2-40B4-BE49-F238E27FC236}">
                <a16:creationId xmlns:a16="http://schemas.microsoft.com/office/drawing/2014/main" id="{484358C7-0D18-276E-0C45-1F736785A0F0}"/>
              </a:ext>
            </a:extLst>
          </p:cNvPr>
          <p:cNvSpPr txBox="1"/>
          <p:nvPr/>
        </p:nvSpPr>
        <p:spPr>
          <a:xfrm>
            <a:off x="6543093" y="810313"/>
            <a:ext cx="4679576" cy="2031325"/>
          </a:xfrm>
          <a:prstGeom prst="rect">
            <a:avLst/>
          </a:prstGeom>
          <a:noFill/>
        </p:spPr>
        <p:txBody>
          <a:bodyPr wrap="square" rtlCol="0">
            <a:spAutoFit/>
          </a:bodyPr>
          <a:lstStyle/>
          <a:p>
            <a:r>
              <a:rPr lang="tr-TR" dirty="0"/>
              <a:t>6- Modül danışmanı </a:t>
            </a:r>
            <a:r>
              <a:rPr lang="tr-TR" dirty="0" err="1"/>
              <a:t>ticketi</a:t>
            </a:r>
            <a:r>
              <a:rPr lang="tr-TR" dirty="0"/>
              <a:t> kontrol eder eksiklikleri ilgili birimlere bildirir. Sorun yoksa </a:t>
            </a:r>
            <a:r>
              <a:rPr lang="tr-TR" dirty="0" err="1"/>
              <a:t>ticket</a:t>
            </a:r>
            <a:r>
              <a:rPr lang="tr-TR" dirty="0"/>
              <a:t>  ‘</a:t>
            </a:r>
            <a:r>
              <a:rPr lang="tr-TR" dirty="0" err="1"/>
              <a:t>active</a:t>
            </a:r>
            <a:r>
              <a:rPr lang="tr-TR" dirty="0"/>
              <a:t>’ durumuna getirilir. </a:t>
            </a:r>
            <a:r>
              <a:rPr lang="tr-TR" dirty="0" err="1"/>
              <a:t>Ticket’ı</a:t>
            </a:r>
            <a:r>
              <a:rPr lang="tr-TR" dirty="0"/>
              <a:t> aktif edildiğinde </a:t>
            </a:r>
            <a:r>
              <a:rPr lang="tr-TR" dirty="0" err="1"/>
              <a:t>response</a:t>
            </a:r>
            <a:r>
              <a:rPr lang="tr-TR" dirty="0"/>
              <a:t> SLA ı durur. Solution Time </a:t>
            </a:r>
            <a:r>
              <a:rPr lang="tr-TR" dirty="0" err="1"/>
              <a:t>SLA’yı</a:t>
            </a:r>
            <a:r>
              <a:rPr lang="tr-TR" dirty="0"/>
              <a:t> </a:t>
            </a:r>
            <a:r>
              <a:rPr lang="tr-TR" dirty="0" err="1"/>
              <a:t>başlar.Ticket</a:t>
            </a:r>
            <a:r>
              <a:rPr lang="tr-TR" dirty="0"/>
              <a:t> birden fazla bölüm ile ilgili ise ilgili danışmanlar </a:t>
            </a:r>
            <a:r>
              <a:rPr lang="tr-TR" dirty="0" err="1"/>
              <a:t>Persons</a:t>
            </a:r>
            <a:r>
              <a:rPr lang="tr-TR" dirty="0"/>
              <a:t>’ a eklenir ve çözüme ortak olması beklenir.</a:t>
            </a:r>
          </a:p>
        </p:txBody>
      </p:sp>
      <p:sp>
        <p:nvSpPr>
          <p:cNvPr id="7" name="Metin kutusu 6">
            <a:extLst>
              <a:ext uri="{FF2B5EF4-FFF2-40B4-BE49-F238E27FC236}">
                <a16:creationId xmlns:a16="http://schemas.microsoft.com/office/drawing/2014/main" id="{4D2E9971-C603-6A99-8C68-0310EB86B0FC}"/>
              </a:ext>
            </a:extLst>
          </p:cNvPr>
          <p:cNvSpPr txBox="1"/>
          <p:nvPr/>
        </p:nvSpPr>
        <p:spPr>
          <a:xfrm>
            <a:off x="6543093" y="2895550"/>
            <a:ext cx="4389120" cy="923330"/>
          </a:xfrm>
          <a:prstGeom prst="rect">
            <a:avLst/>
          </a:prstGeom>
          <a:noFill/>
        </p:spPr>
        <p:txBody>
          <a:bodyPr wrap="square">
            <a:spAutoFit/>
          </a:bodyPr>
          <a:lstStyle/>
          <a:p>
            <a:r>
              <a:rPr lang="tr-TR" dirty="0"/>
              <a:t>7- Soru vb. müşteriye iletilir ve sorulur. </a:t>
            </a:r>
            <a:r>
              <a:rPr lang="tr-TR" dirty="0" err="1"/>
              <a:t>Ticket</a:t>
            </a:r>
            <a:r>
              <a:rPr lang="tr-TR" dirty="0"/>
              <a:t> durumu ‘</a:t>
            </a:r>
            <a:r>
              <a:rPr lang="tr-TR" dirty="0" err="1"/>
              <a:t>customer</a:t>
            </a:r>
            <a:r>
              <a:rPr lang="tr-TR" dirty="0"/>
              <a:t> </a:t>
            </a:r>
            <a:r>
              <a:rPr lang="tr-TR" dirty="0" err="1"/>
              <a:t>action</a:t>
            </a:r>
            <a:r>
              <a:rPr lang="tr-TR" dirty="0"/>
              <a:t> (müşteri eylemine)’ a alınır.</a:t>
            </a:r>
          </a:p>
        </p:txBody>
      </p:sp>
      <p:sp>
        <p:nvSpPr>
          <p:cNvPr id="9" name="Metin kutusu 8">
            <a:extLst>
              <a:ext uri="{FF2B5EF4-FFF2-40B4-BE49-F238E27FC236}">
                <a16:creationId xmlns:a16="http://schemas.microsoft.com/office/drawing/2014/main" id="{6E28CFA8-202D-33DE-0B95-C7BAB43F0A46}"/>
              </a:ext>
            </a:extLst>
          </p:cNvPr>
          <p:cNvSpPr txBox="1"/>
          <p:nvPr/>
        </p:nvSpPr>
        <p:spPr>
          <a:xfrm>
            <a:off x="6543093" y="3895720"/>
            <a:ext cx="4389120" cy="923330"/>
          </a:xfrm>
          <a:prstGeom prst="rect">
            <a:avLst/>
          </a:prstGeom>
          <a:noFill/>
        </p:spPr>
        <p:txBody>
          <a:bodyPr wrap="square">
            <a:spAutoFit/>
          </a:bodyPr>
          <a:lstStyle/>
          <a:p>
            <a:r>
              <a:rPr lang="tr-TR" dirty="0"/>
              <a:t>8- Çözüm önerisi müşteriye iletilir. </a:t>
            </a:r>
            <a:r>
              <a:rPr lang="tr-TR" dirty="0" err="1"/>
              <a:t>Ticket</a:t>
            </a:r>
            <a:r>
              <a:rPr lang="tr-TR" dirty="0"/>
              <a:t> durumu ‘</a:t>
            </a:r>
            <a:r>
              <a:rPr lang="tr-TR" dirty="0" err="1"/>
              <a:t>proposed</a:t>
            </a:r>
            <a:r>
              <a:rPr lang="tr-TR" dirty="0"/>
              <a:t> solution (önerilen çözüme)’ a alınır.</a:t>
            </a:r>
          </a:p>
        </p:txBody>
      </p:sp>
      <p:sp>
        <p:nvSpPr>
          <p:cNvPr id="11" name="Metin kutusu 10">
            <a:extLst>
              <a:ext uri="{FF2B5EF4-FFF2-40B4-BE49-F238E27FC236}">
                <a16:creationId xmlns:a16="http://schemas.microsoft.com/office/drawing/2014/main" id="{550744E7-F625-F69E-5978-3AE8C182333A}"/>
              </a:ext>
            </a:extLst>
          </p:cNvPr>
          <p:cNvSpPr txBox="1"/>
          <p:nvPr/>
        </p:nvSpPr>
        <p:spPr>
          <a:xfrm>
            <a:off x="6543093" y="4895890"/>
            <a:ext cx="4744064" cy="1200329"/>
          </a:xfrm>
          <a:prstGeom prst="rect">
            <a:avLst/>
          </a:prstGeom>
          <a:noFill/>
        </p:spPr>
        <p:txBody>
          <a:bodyPr wrap="square">
            <a:spAutoFit/>
          </a:bodyPr>
          <a:lstStyle/>
          <a:p>
            <a:r>
              <a:rPr lang="tr-TR" dirty="0"/>
              <a:t>9-Müşteriden çözüm için onay gelince kapatması için  </a:t>
            </a:r>
            <a:r>
              <a:rPr lang="tr-TR" dirty="0" err="1"/>
              <a:t>ticket</a:t>
            </a:r>
            <a:r>
              <a:rPr lang="tr-TR" dirty="0"/>
              <a:t> durumu “</a:t>
            </a:r>
            <a:r>
              <a:rPr lang="tr-TR" dirty="0" err="1"/>
              <a:t>Closure</a:t>
            </a:r>
            <a:r>
              <a:rPr lang="tr-TR" dirty="0"/>
              <a:t> </a:t>
            </a:r>
            <a:r>
              <a:rPr lang="tr-TR" dirty="0" err="1"/>
              <a:t>Request</a:t>
            </a:r>
            <a:r>
              <a:rPr lang="tr-TR" dirty="0"/>
              <a:t> (kapatma talebi)” olarak değiştirilir. Ve müşteri </a:t>
            </a:r>
            <a:r>
              <a:rPr lang="tr-TR" dirty="0" err="1"/>
              <a:t>ticketi</a:t>
            </a:r>
            <a:r>
              <a:rPr lang="tr-TR" dirty="0"/>
              <a:t> kapatır.</a:t>
            </a:r>
          </a:p>
        </p:txBody>
      </p:sp>
      <p:sp>
        <p:nvSpPr>
          <p:cNvPr id="13" name="Metin kutusu 12">
            <a:extLst>
              <a:ext uri="{FF2B5EF4-FFF2-40B4-BE49-F238E27FC236}">
                <a16:creationId xmlns:a16="http://schemas.microsoft.com/office/drawing/2014/main" id="{B7D5E574-6314-9ADC-B8B6-4B5FE8CEAAED}"/>
              </a:ext>
            </a:extLst>
          </p:cNvPr>
          <p:cNvSpPr txBox="1"/>
          <p:nvPr/>
        </p:nvSpPr>
        <p:spPr>
          <a:xfrm>
            <a:off x="6543093" y="6096219"/>
            <a:ext cx="4819369" cy="646331"/>
          </a:xfrm>
          <a:prstGeom prst="rect">
            <a:avLst/>
          </a:prstGeom>
          <a:noFill/>
        </p:spPr>
        <p:txBody>
          <a:bodyPr wrap="square">
            <a:spAutoFit/>
          </a:bodyPr>
          <a:lstStyle/>
          <a:p>
            <a:r>
              <a:rPr lang="tr-TR" dirty="0"/>
              <a:t>10- Harcanan efora, çalışana ve danışman sayısına göre faturalandırma yapılır.</a:t>
            </a:r>
          </a:p>
        </p:txBody>
      </p:sp>
      <p:pic>
        <p:nvPicPr>
          <p:cNvPr id="17" name="Grafik 16" descr="Ui Ux ana hat">
            <a:extLst>
              <a:ext uri="{FF2B5EF4-FFF2-40B4-BE49-F238E27FC236}">
                <a16:creationId xmlns:a16="http://schemas.microsoft.com/office/drawing/2014/main" id="{73D5ACF2-1747-C8CA-DE49-853BB70FFA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54122" y="0"/>
            <a:ext cx="2509546" cy="2509546"/>
          </a:xfrm>
          <a:prstGeom prst="rect">
            <a:avLst/>
          </a:prstGeom>
        </p:spPr>
      </p:pic>
    </p:spTree>
    <p:extLst>
      <p:ext uri="{BB962C8B-B14F-4D97-AF65-F5344CB8AC3E}">
        <p14:creationId xmlns:p14="http://schemas.microsoft.com/office/powerpoint/2010/main" val="236528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tin, yazılım, web sayfası, bilgisayar simgesi içeren bir resim&#10;&#10;Yapay zeka tarafından oluşturulan içerik yanlış olabilir.">
            <a:extLst>
              <a:ext uri="{FF2B5EF4-FFF2-40B4-BE49-F238E27FC236}">
                <a16:creationId xmlns:a16="http://schemas.microsoft.com/office/drawing/2014/main" id="{E918F872-05CE-C9A7-54BD-9593C4E5F9E4}"/>
              </a:ext>
            </a:extLst>
          </p:cNvPr>
          <p:cNvPicPr>
            <a:picLocks noChangeAspect="1"/>
          </p:cNvPicPr>
          <p:nvPr/>
        </p:nvPicPr>
        <p:blipFill>
          <a:blip r:embed="rId2"/>
          <a:stretch>
            <a:fillRect/>
          </a:stretch>
        </p:blipFill>
        <p:spPr>
          <a:xfrm>
            <a:off x="227902" y="877365"/>
            <a:ext cx="11736195" cy="5319580"/>
          </a:xfrm>
          <a:prstGeom prst="rect">
            <a:avLst/>
          </a:prstGeom>
        </p:spPr>
      </p:pic>
      <p:sp>
        <p:nvSpPr>
          <p:cNvPr id="4" name="Metin kutusu 3">
            <a:extLst>
              <a:ext uri="{FF2B5EF4-FFF2-40B4-BE49-F238E27FC236}">
                <a16:creationId xmlns:a16="http://schemas.microsoft.com/office/drawing/2014/main" id="{38173525-16B9-4324-11C4-954325E7DD29}"/>
              </a:ext>
            </a:extLst>
          </p:cNvPr>
          <p:cNvSpPr txBox="1"/>
          <p:nvPr/>
        </p:nvSpPr>
        <p:spPr>
          <a:xfrm>
            <a:off x="3362632" y="76280"/>
            <a:ext cx="4607736" cy="584775"/>
          </a:xfrm>
          <a:prstGeom prst="rect">
            <a:avLst/>
          </a:prstGeom>
          <a:noFill/>
        </p:spPr>
        <p:txBody>
          <a:bodyPr wrap="none" rtlCol="0">
            <a:spAutoFit/>
          </a:bodyPr>
          <a:lstStyle/>
          <a:p>
            <a:r>
              <a:rPr lang="tr-TR" sz="3200" b="1" dirty="0"/>
              <a:t>Örnek ekran görüntüleri</a:t>
            </a:r>
          </a:p>
        </p:txBody>
      </p:sp>
    </p:spTree>
    <p:extLst>
      <p:ext uri="{BB962C8B-B14F-4D97-AF65-F5344CB8AC3E}">
        <p14:creationId xmlns:p14="http://schemas.microsoft.com/office/powerpoint/2010/main" val="29863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28CA4-8FFD-281F-47E7-1678FCBF7FD4}"/>
            </a:ext>
          </a:extLst>
        </p:cNvPr>
        <p:cNvGrpSpPr/>
        <p:nvPr/>
      </p:nvGrpSpPr>
      <p:grpSpPr>
        <a:xfrm>
          <a:off x="0" y="0"/>
          <a:ext cx="0" cy="0"/>
          <a:chOff x="0" y="0"/>
          <a:chExt cx="0" cy="0"/>
        </a:xfrm>
      </p:grpSpPr>
      <p:sp>
        <p:nvSpPr>
          <p:cNvPr id="4" name="Metin kutusu 3">
            <a:extLst>
              <a:ext uri="{FF2B5EF4-FFF2-40B4-BE49-F238E27FC236}">
                <a16:creationId xmlns:a16="http://schemas.microsoft.com/office/drawing/2014/main" id="{B5B7CF4C-CAF0-C358-493F-6E4F961A42F9}"/>
              </a:ext>
            </a:extLst>
          </p:cNvPr>
          <p:cNvSpPr txBox="1"/>
          <p:nvPr/>
        </p:nvSpPr>
        <p:spPr>
          <a:xfrm>
            <a:off x="3362632" y="76280"/>
            <a:ext cx="4607736" cy="584775"/>
          </a:xfrm>
          <a:prstGeom prst="rect">
            <a:avLst/>
          </a:prstGeom>
          <a:noFill/>
        </p:spPr>
        <p:txBody>
          <a:bodyPr wrap="none" rtlCol="0">
            <a:spAutoFit/>
          </a:bodyPr>
          <a:lstStyle/>
          <a:p>
            <a:r>
              <a:rPr lang="tr-TR" sz="3200" b="1" dirty="0"/>
              <a:t>Örnek ekran görüntüleri</a:t>
            </a:r>
          </a:p>
        </p:txBody>
      </p:sp>
      <p:pic>
        <p:nvPicPr>
          <p:cNvPr id="3" name="Picture 1" descr="metin, ekran görüntüsü, yazı tipi, sayı, numara içeren bir resim&#10;&#10;Yapay zeka tarafından oluşturulan içerik yanlış olabilir.">
            <a:extLst>
              <a:ext uri="{FF2B5EF4-FFF2-40B4-BE49-F238E27FC236}">
                <a16:creationId xmlns:a16="http://schemas.microsoft.com/office/drawing/2014/main" id="{BE3794FB-9745-00B2-B990-5A0E8A87B9B8}"/>
              </a:ext>
            </a:extLst>
          </p:cNvPr>
          <p:cNvPicPr>
            <a:picLocks noChangeAspect="1"/>
          </p:cNvPicPr>
          <p:nvPr/>
        </p:nvPicPr>
        <p:blipFill>
          <a:blip r:embed="rId2"/>
          <a:stretch>
            <a:fillRect/>
          </a:stretch>
        </p:blipFill>
        <p:spPr>
          <a:xfrm>
            <a:off x="182357" y="1466235"/>
            <a:ext cx="11827286" cy="3754694"/>
          </a:xfrm>
          <a:prstGeom prst="rect">
            <a:avLst/>
          </a:prstGeom>
        </p:spPr>
      </p:pic>
    </p:spTree>
    <p:extLst>
      <p:ext uri="{BB962C8B-B14F-4D97-AF65-F5344CB8AC3E}">
        <p14:creationId xmlns:p14="http://schemas.microsoft.com/office/powerpoint/2010/main" val="2379109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1B85-9ADE-67DF-A247-6DCBAEAAA3A3}"/>
            </a:ext>
          </a:extLst>
        </p:cNvPr>
        <p:cNvGrpSpPr/>
        <p:nvPr/>
      </p:nvGrpSpPr>
      <p:grpSpPr>
        <a:xfrm>
          <a:off x="0" y="0"/>
          <a:ext cx="0" cy="0"/>
          <a:chOff x="0" y="0"/>
          <a:chExt cx="0" cy="0"/>
        </a:xfrm>
      </p:grpSpPr>
      <p:sp>
        <p:nvSpPr>
          <p:cNvPr id="4" name="Metin kutusu 3">
            <a:extLst>
              <a:ext uri="{FF2B5EF4-FFF2-40B4-BE49-F238E27FC236}">
                <a16:creationId xmlns:a16="http://schemas.microsoft.com/office/drawing/2014/main" id="{A59911A8-4FCF-9A33-48C7-B0E9D4685BAD}"/>
              </a:ext>
            </a:extLst>
          </p:cNvPr>
          <p:cNvSpPr txBox="1"/>
          <p:nvPr/>
        </p:nvSpPr>
        <p:spPr>
          <a:xfrm>
            <a:off x="3362632" y="76280"/>
            <a:ext cx="4607736" cy="584775"/>
          </a:xfrm>
          <a:prstGeom prst="rect">
            <a:avLst/>
          </a:prstGeom>
          <a:noFill/>
        </p:spPr>
        <p:txBody>
          <a:bodyPr wrap="none" rtlCol="0">
            <a:spAutoFit/>
          </a:bodyPr>
          <a:lstStyle/>
          <a:p>
            <a:r>
              <a:rPr lang="tr-TR" sz="3200" b="1" dirty="0"/>
              <a:t>Örnek ekran görüntüleri</a:t>
            </a:r>
          </a:p>
        </p:txBody>
      </p:sp>
      <p:pic>
        <p:nvPicPr>
          <p:cNvPr id="2" name="Picture 1" descr="metin, ekran görüntüsü, yazılım, web sayfası içeren bir resim&#10;&#10;Yapay zeka tarafından oluşturulan içerik yanlış olabilir.">
            <a:extLst>
              <a:ext uri="{FF2B5EF4-FFF2-40B4-BE49-F238E27FC236}">
                <a16:creationId xmlns:a16="http://schemas.microsoft.com/office/drawing/2014/main" id="{1AD816CD-AD67-4E47-3C9E-F1CB013E5FC5}"/>
              </a:ext>
            </a:extLst>
          </p:cNvPr>
          <p:cNvPicPr>
            <a:picLocks noChangeAspect="1"/>
          </p:cNvPicPr>
          <p:nvPr/>
        </p:nvPicPr>
        <p:blipFill>
          <a:blip r:embed="rId2"/>
          <a:stretch>
            <a:fillRect/>
          </a:stretch>
        </p:blipFill>
        <p:spPr>
          <a:xfrm>
            <a:off x="131449" y="820958"/>
            <a:ext cx="11929102" cy="5550346"/>
          </a:xfrm>
          <a:prstGeom prst="rect">
            <a:avLst/>
          </a:prstGeom>
        </p:spPr>
      </p:pic>
    </p:spTree>
    <p:extLst>
      <p:ext uri="{BB962C8B-B14F-4D97-AF65-F5344CB8AC3E}">
        <p14:creationId xmlns:p14="http://schemas.microsoft.com/office/powerpoint/2010/main" val="2146657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9CAEA-AB64-459C-432A-503F6AB4D3FD}"/>
            </a:ext>
          </a:extLst>
        </p:cNvPr>
        <p:cNvGrpSpPr/>
        <p:nvPr/>
      </p:nvGrpSpPr>
      <p:grpSpPr>
        <a:xfrm>
          <a:off x="0" y="0"/>
          <a:ext cx="0" cy="0"/>
          <a:chOff x="0" y="0"/>
          <a:chExt cx="0" cy="0"/>
        </a:xfrm>
      </p:grpSpPr>
      <p:sp>
        <p:nvSpPr>
          <p:cNvPr id="4" name="Metin kutusu 3">
            <a:extLst>
              <a:ext uri="{FF2B5EF4-FFF2-40B4-BE49-F238E27FC236}">
                <a16:creationId xmlns:a16="http://schemas.microsoft.com/office/drawing/2014/main" id="{385D9D63-F2E3-630F-63E0-8CAE63DA761A}"/>
              </a:ext>
            </a:extLst>
          </p:cNvPr>
          <p:cNvSpPr txBox="1"/>
          <p:nvPr/>
        </p:nvSpPr>
        <p:spPr>
          <a:xfrm>
            <a:off x="3362632" y="76280"/>
            <a:ext cx="4607736" cy="584775"/>
          </a:xfrm>
          <a:prstGeom prst="rect">
            <a:avLst/>
          </a:prstGeom>
          <a:noFill/>
        </p:spPr>
        <p:txBody>
          <a:bodyPr wrap="none" rtlCol="0">
            <a:spAutoFit/>
          </a:bodyPr>
          <a:lstStyle/>
          <a:p>
            <a:r>
              <a:rPr lang="tr-TR" sz="3200" b="1" dirty="0"/>
              <a:t>Örnek ekran görüntüleri</a:t>
            </a:r>
          </a:p>
        </p:txBody>
      </p:sp>
      <p:pic>
        <p:nvPicPr>
          <p:cNvPr id="3" name="Picture 1" descr="metin, ekran görüntüsü içeren bir resim&#10;&#10;Yapay zeka tarafından oluşturulan içerik yanlış olabilir.">
            <a:extLst>
              <a:ext uri="{FF2B5EF4-FFF2-40B4-BE49-F238E27FC236}">
                <a16:creationId xmlns:a16="http://schemas.microsoft.com/office/drawing/2014/main" id="{EB9094CE-76AA-0064-1E6E-B655A7A811FF}"/>
              </a:ext>
            </a:extLst>
          </p:cNvPr>
          <p:cNvPicPr>
            <a:picLocks noChangeAspect="1"/>
          </p:cNvPicPr>
          <p:nvPr/>
        </p:nvPicPr>
        <p:blipFill>
          <a:blip r:embed="rId2"/>
          <a:stretch>
            <a:fillRect/>
          </a:stretch>
        </p:blipFill>
        <p:spPr>
          <a:xfrm>
            <a:off x="2692048" y="661055"/>
            <a:ext cx="6281708" cy="2672080"/>
          </a:xfrm>
          <a:prstGeom prst="rect">
            <a:avLst/>
          </a:prstGeom>
        </p:spPr>
      </p:pic>
      <p:pic>
        <p:nvPicPr>
          <p:cNvPr id="5" name="Picture 1" descr="metin, ekran görüntüsü, yazılım, sayı, numara içeren bir resim&#10;&#10;Yapay zeka tarafından oluşturulan içerik yanlış olabilir.">
            <a:extLst>
              <a:ext uri="{FF2B5EF4-FFF2-40B4-BE49-F238E27FC236}">
                <a16:creationId xmlns:a16="http://schemas.microsoft.com/office/drawing/2014/main" id="{28103DA4-626F-312E-9139-C0E76C25E3B7}"/>
              </a:ext>
            </a:extLst>
          </p:cNvPr>
          <p:cNvPicPr>
            <a:picLocks noChangeAspect="1"/>
          </p:cNvPicPr>
          <p:nvPr/>
        </p:nvPicPr>
        <p:blipFill>
          <a:blip r:embed="rId3"/>
          <a:stretch>
            <a:fillRect/>
          </a:stretch>
        </p:blipFill>
        <p:spPr>
          <a:xfrm>
            <a:off x="2607666" y="3696295"/>
            <a:ext cx="6450472" cy="2969976"/>
          </a:xfrm>
          <a:prstGeom prst="rect">
            <a:avLst/>
          </a:prstGeom>
        </p:spPr>
      </p:pic>
    </p:spTree>
    <p:extLst>
      <p:ext uri="{BB962C8B-B14F-4D97-AF65-F5344CB8AC3E}">
        <p14:creationId xmlns:p14="http://schemas.microsoft.com/office/powerpoint/2010/main" val="229933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diyagram, çizgi, yazı tipi içeren bir resim">
            <a:extLst>
              <a:ext uri="{FF2B5EF4-FFF2-40B4-BE49-F238E27FC236}">
                <a16:creationId xmlns:a16="http://schemas.microsoft.com/office/drawing/2014/main" id="{9E966D53-AF33-034B-A880-0107F6E29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251" y="1225451"/>
            <a:ext cx="10574289" cy="5090159"/>
          </a:xfrm>
          <a:prstGeom prst="rect">
            <a:avLst/>
          </a:prstGeom>
        </p:spPr>
      </p:pic>
      <p:sp>
        <p:nvSpPr>
          <p:cNvPr id="8" name="Metin kutusu 7">
            <a:extLst>
              <a:ext uri="{FF2B5EF4-FFF2-40B4-BE49-F238E27FC236}">
                <a16:creationId xmlns:a16="http://schemas.microsoft.com/office/drawing/2014/main" id="{4701BBFD-7161-45EB-8835-ECB10519F7F0}"/>
              </a:ext>
            </a:extLst>
          </p:cNvPr>
          <p:cNvSpPr txBox="1"/>
          <p:nvPr/>
        </p:nvSpPr>
        <p:spPr>
          <a:xfrm>
            <a:off x="1645615" y="365761"/>
            <a:ext cx="8900770" cy="738664"/>
          </a:xfrm>
          <a:prstGeom prst="rect">
            <a:avLst/>
          </a:prstGeom>
          <a:noFill/>
        </p:spPr>
        <p:txBody>
          <a:bodyPr wrap="none" rtlCol="0">
            <a:spAutoFit/>
          </a:bodyPr>
          <a:lstStyle/>
          <a:p>
            <a:pPr algn="ctr"/>
            <a:r>
              <a:rPr lang="tr-TR" sz="2400" b="1" dirty="0"/>
              <a:t>Analiz Tekniği: Balık Kılçığı Diyagramı (Sebep-Sonuç Diyagramı)</a:t>
            </a:r>
          </a:p>
          <a:p>
            <a:pPr algn="ctr"/>
            <a:endParaRPr lang="tr-TR" dirty="0"/>
          </a:p>
        </p:txBody>
      </p:sp>
    </p:spTree>
    <p:extLst>
      <p:ext uri="{BB962C8B-B14F-4D97-AF65-F5344CB8AC3E}">
        <p14:creationId xmlns:p14="http://schemas.microsoft.com/office/powerpoint/2010/main" val="654693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metin, ekran görüntüsü, diyagram, yazı tipi içeren bir resim">
            <a:extLst>
              <a:ext uri="{FF2B5EF4-FFF2-40B4-BE49-F238E27FC236}">
                <a16:creationId xmlns:a16="http://schemas.microsoft.com/office/drawing/2014/main" id="{4407E805-EF9B-FA6B-320D-91AF1C6E6D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6980" y="967739"/>
            <a:ext cx="7178040" cy="5475313"/>
          </a:xfrm>
          <a:prstGeom prst="rect">
            <a:avLst/>
          </a:prstGeom>
        </p:spPr>
      </p:pic>
      <p:sp>
        <p:nvSpPr>
          <p:cNvPr id="4" name="Metin kutusu 3">
            <a:extLst>
              <a:ext uri="{FF2B5EF4-FFF2-40B4-BE49-F238E27FC236}">
                <a16:creationId xmlns:a16="http://schemas.microsoft.com/office/drawing/2014/main" id="{814F056A-40CC-4E47-6F9C-27E36CA491FB}"/>
              </a:ext>
            </a:extLst>
          </p:cNvPr>
          <p:cNvSpPr txBox="1"/>
          <p:nvPr/>
        </p:nvSpPr>
        <p:spPr>
          <a:xfrm>
            <a:off x="2913380" y="272708"/>
            <a:ext cx="6096000" cy="461665"/>
          </a:xfrm>
          <a:prstGeom prst="rect">
            <a:avLst/>
          </a:prstGeom>
          <a:noFill/>
        </p:spPr>
        <p:txBody>
          <a:bodyPr wrap="square">
            <a:spAutoFit/>
          </a:bodyPr>
          <a:lstStyle/>
          <a:p>
            <a:pPr algn="ctr"/>
            <a:r>
              <a:rPr lang="tr-TR" sz="2400" b="1" dirty="0"/>
              <a:t>Süreç Keşfi</a:t>
            </a:r>
          </a:p>
        </p:txBody>
      </p:sp>
    </p:spTree>
    <p:extLst>
      <p:ext uri="{BB962C8B-B14F-4D97-AF65-F5344CB8AC3E}">
        <p14:creationId xmlns:p14="http://schemas.microsoft.com/office/powerpoint/2010/main" val="2835987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çerik Yer Tutucusu 7">
            <a:extLst>
              <a:ext uri="{FF2B5EF4-FFF2-40B4-BE49-F238E27FC236}">
                <a16:creationId xmlns:a16="http://schemas.microsoft.com/office/drawing/2014/main" id="{2F332B4B-FD68-6402-CF7A-0316D3E25020}"/>
              </a:ext>
            </a:extLst>
          </p:cNvPr>
          <p:cNvPicPr>
            <a:picLocks noGrp="1" noChangeAspect="1"/>
          </p:cNvPicPr>
          <p:nvPr>
            <p:ph sz="half" idx="1"/>
          </p:nvPr>
        </p:nvPicPr>
        <p:blipFill>
          <a:blip r:embed="rId2"/>
          <a:stretch>
            <a:fillRect/>
          </a:stretch>
        </p:blipFill>
        <p:spPr>
          <a:xfrm>
            <a:off x="416561" y="78694"/>
            <a:ext cx="5679439" cy="6487789"/>
          </a:xfrm>
        </p:spPr>
      </p:pic>
      <p:pic>
        <p:nvPicPr>
          <p:cNvPr id="10" name="İçerik Yer Tutucusu 9">
            <a:extLst>
              <a:ext uri="{FF2B5EF4-FFF2-40B4-BE49-F238E27FC236}">
                <a16:creationId xmlns:a16="http://schemas.microsoft.com/office/drawing/2014/main" id="{540FB684-F0DE-1F38-DD41-CABA6222A7CF}"/>
              </a:ext>
            </a:extLst>
          </p:cNvPr>
          <p:cNvPicPr>
            <a:picLocks noGrp="1" noChangeAspect="1"/>
          </p:cNvPicPr>
          <p:nvPr>
            <p:ph sz="half" idx="2"/>
          </p:nvPr>
        </p:nvPicPr>
        <p:blipFill>
          <a:blip r:embed="rId3"/>
          <a:stretch>
            <a:fillRect/>
          </a:stretch>
        </p:blipFill>
        <p:spPr>
          <a:xfrm>
            <a:off x="5893069" y="738524"/>
            <a:ext cx="5882370" cy="6040782"/>
          </a:xfrm>
        </p:spPr>
      </p:pic>
      <p:sp>
        <p:nvSpPr>
          <p:cNvPr id="12" name="Metin kutusu 11">
            <a:extLst>
              <a:ext uri="{FF2B5EF4-FFF2-40B4-BE49-F238E27FC236}">
                <a16:creationId xmlns:a16="http://schemas.microsoft.com/office/drawing/2014/main" id="{7E20BF60-355E-F651-9129-E70CC5D312B2}"/>
              </a:ext>
            </a:extLst>
          </p:cNvPr>
          <p:cNvSpPr txBox="1"/>
          <p:nvPr/>
        </p:nvSpPr>
        <p:spPr>
          <a:xfrm>
            <a:off x="5887720" y="39277"/>
            <a:ext cx="6096000" cy="369332"/>
          </a:xfrm>
          <a:prstGeom prst="rect">
            <a:avLst/>
          </a:prstGeom>
          <a:noFill/>
        </p:spPr>
        <p:txBody>
          <a:bodyPr wrap="square">
            <a:spAutoFit/>
          </a:bodyPr>
          <a:lstStyle/>
          <a:p>
            <a:pPr algn="ctr"/>
            <a:r>
              <a:rPr lang="tr-TR" sz="1800" b="1" dirty="0"/>
              <a:t>Önceki Durum İş Akış Şeması</a:t>
            </a:r>
          </a:p>
        </p:txBody>
      </p:sp>
    </p:spTree>
    <p:extLst>
      <p:ext uri="{BB962C8B-B14F-4D97-AF65-F5344CB8AC3E}">
        <p14:creationId xmlns:p14="http://schemas.microsoft.com/office/powerpoint/2010/main" val="169945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D74603AC-6030-FBC2-531C-0D1DB88B983E}"/>
              </a:ext>
            </a:extLst>
          </p:cNvPr>
          <p:cNvPicPr>
            <a:picLocks noGrp="1" noChangeAspect="1"/>
          </p:cNvPicPr>
          <p:nvPr>
            <p:ph sz="half" idx="1"/>
          </p:nvPr>
        </p:nvPicPr>
        <p:blipFill>
          <a:blip r:embed="rId2"/>
          <a:stretch>
            <a:fillRect/>
          </a:stretch>
        </p:blipFill>
        <p:spPr>
          <a:xfrm>
            <a:off x="838200" y="151037"/>
            <a:ext cx="4753412" cy="6425770"/>
          </a:xfrm>
        </p:spPr>
      </p:pic>
      <p:pic>
        <p:nvPicPr>
          <p:cNvPr id="8" name="İçerik Yer Tutucusu 7">
            <a:extLst>
              <a:ext uri="{FF2B5EF4-FFF2-40B4-BE49-F238E27FC236}">
                <a16:creationId xmlns:a16="http://schemas.microsoft.com/office/drawing/2014/main" id="{43EB2E69-A89D-1D83-3D7C-163E23352A27}"/>
              </a:ext>
            </a:extLst>
          </p:cNvPr>
          <p:cNvPicPr>
            <a:picLocks noGrp="1" noChangeAspect="1"/>
          </p:cNvPicPr>
          <p:nvPr>
            <p:ph sz="half" idx="2"/>
          </p:nvPr>
        </p:nvPicPr>
        <p:blipFill>
          <a:blip r:embed="rId3"/>
          <a:stretch>
            <a:fillRect/>
          </a:stretch>
        </p:blipFill>
        <p:spPr>
          <a:xfrm>
            <a:off x="6600390" y="631844"/>
            <a:ext cx="4891721" cy="5944963"/>
          </a:xfrm>
        </p:spPr>
      </p:pic>
      <p:sp>
        <p:nvSpPr>
          <p:cNvPr id="5" name="Metin kutusu 4">
            <a:extLst>
              <a:ext uri="{FF2B5EF4-FFF2-40B4-BE49-F238E27FC236}">
                <a16:creationId xmlns:a16="http://schemas.microsoft.com/office/drawing/2014/main" id="{BD1E54FB-09A1-648B-DEBB-0F54A6FDB4E9}"/>
              </a:ext>
            </a:extLst>
          </p:cNvPr>
          <p:cNvSpPr txBox="1"/>
          <p:nvPr/>
        </p:nvSpPr>
        <p:spPr>
          <a:xfrm>
            <a:off x="6172200" y="0"/>
            <a:ext cx="6096000" cy="369332"/>
          </a:xfrm>
          <a:prstGeom prst="rect">
            <a:avLst/>
          </a:prstGeom>
          <a:noFill/>
        </p:spPr>
        <p:txBody>
          <a:bodyPr wrap="square">
            <a:spAutoFit/>
          </a:bodyPr>
          <a:lstStyle/>
          <a:p>
            <a:pPr algn="ctr"/>
            <a:r>
              <a:rPr lang="tr-TR" sz="1800" b="1" dirty="0"/>
              <a:t>Sonraki Durum İş Akış Şeması</a:t>
            </a:r>
          </a:p>
        </p:txBody>
      </p:sp>
    </p:spTree>
    <p:extLst>
      <p:ext uri="{BB962C8B-B14F-4D97-AF65-F5344CB8AC3E}">
        <p14:creationId xmlns:p14="http://schemas.microsoft.com/office/powerpoint/2010/main" val="3049515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86DBE1E-25EE-5FCE-40B1-3B8B68D43BB4}"/>
              </a:ext>
            </a:extLst>
          </p:cNvPr>
          <p:cNvSpPr txBox="1"/>
          <p:nvPr/>
        </p:nvSpPr>
        <p:spPr>
          <a:xfrm>
            <a:off x="502920" y="632817"/>
            <a:ext cx="11186160" cy="5592365"/>
          </a:xfrm>
          <a:prstGeom prst="rect">
            <a:avLst/>
          </a:prstGeom>
          <a:noFill/>
        </p:spPr>
        <p:txBody>
          <a:bodyPr wrap="square" numCol="1">
            <a:spAutoFit/>
          </a:bodyPr>
          <a:lstStyle/>
          <a:p>
            <a:pPr indent="228600">
              <a:lnSpc>
                <a:spcPct val="115000"/>
              </a:lnSpc>
              <a:spcAft>
                <a:spcPts val="800"/>
              </a:spcAft>
              <a:buNone/>
            </a:pPr>
            <a:r>
              <a:rPr lang="tr-TR" sz="1800" b="1" kern="100" dirty="0">
                <a:effectLst/>
                <a:latin typeface="Aptos" panose="020B0004020202020204" pitchFamily="34" charset="0"/>
                <a:ea typeface="DengXian" panose="02010600030101010101" pitchFamily="2" charset="-122"/>
                <a:cs typeface="Times New Roman" panose="02020603050405020304" pitchFamily="18" charset="0"/>
              </a:rPr>
              <a:t>Öncesi Durum:</a:t>
            </a:r>
            <a:b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b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Önceki süreçte, müşteri firmalarından gelen taleplerin yönetimi ve çözülmesi oldukça zaman alıyordu. SLA ihlalleri sıkça yaşanıyor, bu da müşteri memnuniyetsizliğine yol açıyordu.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Ticketlar</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yanlış modüllere atanıyor, öncelikler yanlış belirleniyor ve danışmanlar arasında iletişim eksiklikleri vardı. Çoğu zaman,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açıklamaları eksik olduğu için işlem yapılamıyor veya hatalı yönlendirmeler nedeniyle sorunlar çözülmeden kalıyordu. Danışmanlar, yoğunluk nedeniyle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ticket’ları</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geç görebiliyordu ve bu da çözüm sürelerinin uzamasına neden oluyordu. Ayrıca, uzak masaüstü kullanımının getirdiği zorluklar nedeniyle bildirimler zamanında alınamıyordu. Bu unsurlar, genel olarak süreç verimliliğini ve müşteri memnuniyetini olumsuz etkiliyordu.</a:t>
            </a:r>
            <a:endParaRPr lang="tr-TR" sz="1800" kern="100" dirty="0">
              <a:effectLst/>
              <a:latin typeface="Aptos" panose="020B0004020202020204" pitchFamily="34" charset="0"/>
              <a:ea typeface="DengXian" panose="02010600030101010101" pitchFamily="2" charset="-122"/>
              <a:cs typeface="Times New Roman" panose="02020603050405020304" pitchFamily="18" charset="0"/>
            </a:endParaRPr>
          </a:p>
          <a:p>
            <a:pPr indent="228600">
              <a:lnSpc>
                <a:spcPct val="115000"/>
              </a:lnSpc>
              <a:spcAft>
                <a:spcPts val="800"/>
              </a:spcAft>
            </a:pPr>
            <a:r>
              <a:rPr lang="tr-TR" sz="1800" b="1" kern="100" dirty="0">
                <a:effectLst/>
                <a:latin typeface="Aptos" panose="020B0004020202020204" pitchFamily="34" charset="0"/>
                <a:ea typeface="DengXian" panose="02010600030101010101" pitchFamily="2" charset="-122"/>
                <a:cs typeface="Times New Roman" panose="02020603050405020304" pitchFamily="18" charset="0"/>
              </a:rPr>
              <a:t>Sonrası Durum:</a:t>
            </a:r>
            <a:b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b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Yapılan iyileştirmeler ve yeni süreç sayesinde SLA ihlallerinde önemli bir azalma sağlandı.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Ticketlar</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doğru modüllere atanarak, her bir talep için en uygun danışman seçildi. AI ile öncelik ve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sınflandırma</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alanlarının doğru şekilde belirlenmesi sağlandı, böylece müşteri talepleri daha hızlı ve etkili bir şekilde yönetildi. Otomatik yönlendirme sistemleri ve yapay zeka destekli açıklama kontrolü gibi yeni teknolojiler kullanılarak,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açıklamaları doğruluğu artırıldı ve yanlış yönlendirmeler azaltıldı. Eğer bir danışman belirli bir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ticket’a</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zamanında cevap veremeyecekse, yedek danışman ataması yapıldı ve süreç kesintisiz şekilde ilerledi. Uzak masaüstü gibi zorlukların etkisi azaltıldı; bildirimler, mail dışında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Teams</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mobil uygulamalar ve pop-</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up</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uyarılar gibi alternatif yollarla da iletildi. Bu düzenlemeler, </a:t>
            </a:r>
            <a:r>
              <a:rPr lang="tr-TR" sz="1800" kern="100" dirty="0" err="1">
                <a:effectLst/>
                <a:latin typeface="Times New Roman" panose="02020603050405020304" pitchFamily="18" charset="0"/>
                <a:ea typeface="DengXian" panose="02010600030101010101" pitchFamily="2" charset="-122"/>
                <a:cs typeface="Times New Roman" panose="02020603050405020304" pitchFamily="18" charset="0"/>
              </a:rPr>
              <a:t>ticketların</a:t>
            </a:r>
            <a:r>
              <a:rPr lang="tr-TR" sz="1800" kern="100" dirty="0">
                <a:effectLst/>
                <a:latin typeface="Times New Roman" panose="02020603050405020304" pitchFamily="18" charset="0"/>
                <a:ea typeface="DengXian" panose="02010600030101010101" pitchFamily="2" charset="-122"/>
                <a:cs typeface="Times New Roman" panose="02020603050405020304" pitchFamily="18" charset="0"/>
              </a:rPr>
              <a:t> hızlı bir şekilde çözülmesini ve müşteri memnuniyetinin artmasını sağladı.</a:t>
            </a:r>
            <a:endParaRPr lang="tr-TR" sz="18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2863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Yer Tutucusu 2">
            <a:extLst>
              <a:ext uri="{FF2B5EF4-FFF2-40B4-BE49-F238E27FC236}">
                <a16:creationId xmlns:a16="http://schemas.microsoft.com/office/drawing/2014/main" id="{05EEE70D-FA35-B369-9EEE-8CC099110F2A}"/>
              </a:ext>
            </a:extLst>
          </p:cNvPr>
          <p:cNvSpPr>
            <a:spLocks noGrp="1"/>
          </p:cNvSpPr>
          <p:nvPr>
            <p:ph type="body" idx="1"/>
          </p:nvPr>
        </p:nvSpPr>
        <p:spPr>
          <a:xfrm>
            <a:off x="839788" y="0"/>
            <a:ext cx="5157787" cy="823912"/>
          </a:xfrm>
        </p:spPr>
        <p:txBody>
          <a:bodyPr/>
          <a:lstStyle/>
          <a:p>
            <a:r>
              <a:rPr lang="tr-TR" dirty="0"/>
              <a:t>Öncesi - Süreçteki Sorunlar</a:t>
            </a:r>
          </a:p>
        </p:txBody>
      </p:sp>
      <p:sp>
        <p:nvSpPr>
          <p:cNvPr id="4" name="İçerik Yer Tutucusu 3">
            <a:extLst>
              <a:ext uri="{FF2B5EF4-FFF2-40B4-BE49-F238E27FC236}">
                <a16:creationId xmlns:a16="http://schemas.microsoft.com/office/drawing/2014/main" id="{7D967A7D-3AE7-92A4-2FC5-708202B0B9B5}"/>
              </a:ext>
            </a:extLst>
          </p:cNvPr>
          <p:cNvSpPr>
            <a:spLocks noGrp="1"/>
          </p:cNvSpPr>
          <p:nvPr>
            <p:ph sz="half" idx="2"/>
          </p:nvPr>
        </p:nvSpPr>
        <p:spPr>
          <a:xfrm>
            <a:off x="545148" y="1097341"/>
            <a:ext cx="4067491" cy="2737485"/>
          </a:xfrm>
        </p:spPr>
        <p:txBody>
          <a:bodyPr>
            <a:noAutofit/>
          </a:bodyPr>
          <a:lstStyle/>
          <a:p>
            <a:pPr lvl="1" algn="l">
              <a:lnSpc>
                <a:spcPts val="2143"/>
              </a:lnSpc>
              <a:spcBef>
                <a:spcPts val="300"/>
              </a:spcBef>
              <a:spcAft>
                <a:spcPts val="1029"/>
              </a:spcAft>
            </a:pPr>
            <a:r>
              <a:rPr lang="tr-TR" sz="2000" b="0" i="0" dirty="0">
                <a:effectLst/>
              </a:rPr>
              <a:t>Yanlış modül ve öncelik atamaları</a:t>
            </a:r>
          </a:p>
          <a:p>
            <a:pPr lvl="1" algn="l">
              <a:lnSpc>
                <a:spcPts val="2143"/>
              </a:lnSpc>
              <a:spcBef>
                <a:spcPts val="300"/>
              </a:spcBef>
              <a:spcAft>
                <a:spcPts val="1029"/>
              </a:spcAft>
            </a:pPr>
            <a:r>
              <a:rPr lang="tr-TR" sz="2000" b="0" i="0" dirty="0" err="1">
                <a:effectLst/>
              </a:rPr>
              <a:t>Ticket</a:t>
            </a:r>
            <a:r>
              <a:rPr lang="tr-TR" sz="2000" b="0" i="0" dirty="0">
                <a:effectLst/>
              </a:rPr>
              <a:t> açıklamalarının eksikliği</a:t>
            </a:r>
          </a:p>
          <a:p>
            <a:pPr lvl="1">
              <a:lnSpc>
                <a:spcPts val="2143"/>
              </a:lnSpc>
              <a:spcBef>
                <a:spcPts val="300"/>
              </a:spcBef>
              <a:spcAft>
                <a:spcPts val="1029"/>
              </a:spcAft>
            </a:pPr>
            <a:r>
              <a:rPr lang="tr-TR" sz="2000" b="0" i="0" dirty="0">
                <a:effectLst/>
              </a:rPr>
              <a:t>Danışmanların bildirimleri geç görmesi, d</a:t>
            </a:r>
            <a:r>
              <a:rPr lang="tr-TR" sz="2000" dirty="0"/>
              <a:t>anışman sorunları.</a:t>
            </a:r>
            <a:endParaRPr lang="tr-TR" sz="2000" b="0" i="0" dirty="0">
              <a:effectLst/>
            </a:endParaRPr>
          </a:p>
          <a:p>
            <a:pPr lvl="1" algn="l">
              <a:lnSpc>
                <a:spcPts val="2143"/>
              </a:lnSpc>
              <a:spcBef>
                <a:spcPts val="300"/>
              </a:spcBef>
              <a:spcAft>
                <a:spcPts val="1029"/>
              </a:spcAft>
            </a:pPr>
            <a:r>
              <a:rPr lang="tr-TR" sz="2000" dirty="0"/>
              <a:t>Sonuç olarak SLA süresinin aşılması.</a:t>
            </a:r>
          </a:p>
        </p:txBody>
      </p:sp>
      <p:sp>
        <p:nvSpPr>
          <p:cNvPr id="5" name="Metin Yer Tutucusu 4">
            <a:extLst>
              <a:ext uri="{FF2B5EF4-FFF2-40B4-BE49-F238E27FC236}">
                <a16:creationId xmlns:a16="http://schemas.microsoft.com/office/drawing/2014/main" id="{BC65EBAA-D706-F99B-07A6-3C8795134620}"/>
              </a:ext>
            </a:extLst>
          </p:cNvPr>
          <p:cNvSpPr>
            <a:spLocks noGrp="1"/>
          </p:cNvSpPr>
          <p:nvPr>
            <p:ph type="body" sz="quarter" idx="3"/>
          </p:nvPr>
        </p:nvSpPr>
        <p:spPr>
          <a:xfrm>
            <a:off x="6172200" y="21272"/>
            <a:ext cx="5183188" cy="823912"/>
          </a:xfrm>
        </p:spPr>
        <p:txBody>
          <a:bodyPr/>
          <a:lstStyle/>
          <a:p>
            <a:r>
              <a:rPr lang="tr-TR" dirty="0"/>
              <a:t>Sonrası – Süreç İyileştirme Önerileri</a:t>
            </a:r>
          </a:p>
        </p:txBody>
      </p:sp>
      <p:sp>
        <p:nvSpPr>
          <p:cNvPr id="6" name="İçerik Yer Tutucusu 5">
            <a:extLst>
              <a:ext uri="{FF2B5EF4-FFF2-40B4-BE49-F238E27FC236}">
                <a16:creationId xmlns:a16="http://schemas.microsoft.com/office/drawing/2014/main" id="{C4F22755-BB7B-D47A-E14E-A5E77848293C}"/>
              </a:ext>
            </a:extLst>
          </p:cNvPr>
          <p:cNvSpPr>
            <a:spLocks noGrp="1"/>
          </p:cNvSpPr>
          <p:nvPr>
            <p:ph sz="quarter" idx="4"/>
          </p:nvPr>
        </p:nvSpPr>
        <p:spPr>
          <a:xfrm>
            <a:off x="5852160" y="1097342"/>
            <a:ext cx="5665725" cy="2854898"/>
          </a:xfrm>
        </p:spPr>
        <p:txBody>
          <a:bodyPr>
            <a:normAutofit fontScale="62500" lnSpcReduction="20000"/>
          </a:bodyPr>
          <a:lstStyle/>
          <a:p>
            <a:pPr lvl="1">
              <a:lnSpc>
                <a:spcPts val="2143"/>
              </a:lnSpc>
              <a:spcBef>
                <a:spcPts val="300"/>
              </a:spcBef>
              <a:spcAft>
                <a:spcPts val="1029"/>
              </a:spcAft>
            </a:pPr>
            <a:r>
              <a:rPr lang="tr-TR" sz="3200" dirty="0"/>
              <a:t>Yapay Zeka Entegrasyonu:</a:t>
            </a:r>
          </a:p>
          <a:p>
            <a:pPr marL="1085850" lvl="3">
              <a:lnSpc>
                <a:spcPts val="2143"/>
              </a:lnSpc>
              <a:spcBef>
                <a:spcPts val="300"/>
              </a:spcBef>
              <a:spcAft>
                <a:spcPts val="1029"/>
              </a:spcAft>
            </a:pPr>
            <a:r>
              <a:rPr lang="tr-TR" sz="3200" dirty="0"/>
              <a:t>AI ile </a:t>
            </a:r>
            <a:r>
              <a:rPr lang="tr-TR" sz="3200" dirty="0" err="1"/>
              <a:t>priority</a:t>
            </a:r>
            <a:r>
              <a:rPr lang="tr-TR" sz="3200" dirty="0"/>
              <a:t>(öncelik) ve modül önerisi</a:t>
            </a:r>
          </a:p>
          <a:p>
            <a:pPr marL="1085850" lvl="3">
              <a:lnSpc>
                <a:spcPts val="2143"/>
              </a:lnSpc>
              <a:spcBef>
                <a:spcPts val="300"/>
              </a:spcBef>
              <a:spcAft>
                <a:spcPts val="1029"/>
              </a:spcAft>
            </a:pPr>
            <a:r>
              <a:rPr lang="tr-TR" sz="3200" dirty="0"/>
              <a:t>Geçmiş </a:t>
            </a:r>
            <a:r>
              <a:rPr lang="tr-TR" sz="3200" dirty="0" err="1"/>
              <a:t>ticket</a:t>
            </a:r>
            <a:r>
              <a:rPr lang="tr-TR" sz="3200" dirty="0"/>
              <a:t> benzerlik analizi</a:t>
            </a:r>
          </a:p>
          <a:p>
            <a:pPr lvl="1">
              <a:lnSpc>
                <a:spcPts val="2143"/>
              </a:lnSpc>
              <a:spcBef>
                <a:spcPts val="300"/>
              </a:spcBef>
              <a:spcAft>
                <a:spcPts val="1029"/>
              </a:spcAft>
            </a:pPr>
            <a:r>
              <a:rPr lang="tr-TR" sz="3200" dirty="0"/>
              <a:t>Çoklu Bildirim Kanalları:</a:t>
            </a:r>
          </a:p>
          <a:p>
            <a:pPr marL="1085850" lvl="3">
              <a:lnSpc>
                <a:spcPts val="2143"/>
              </a:lnSpc>
              <a:spcBef>
                <a:spcPts val="300"/>
              </a:spcBef>
              <a:spcAft>
                <a:spcPts val="1029"/>
              </a:spcAft>
            </a:pPr>
            <a:r>
              <a:rPr lang="tr-TR" sz="3200" dirty="0" err="1"/>
              <a:t>Teams</a:t>
            </a:r>
            <a:r>
              <a:rPr lang="tr-TR" sz="3200" dirty="0"/>
              <a:t>, mobil </a:t>
            </a:r>
            <a:r>
              <a:rPr lang="tr-TR" sz="3200" dirty="0" err="1"/>
              <a:t>push</a:t>
            </a:r>
            <a:r>
              <a:rPr lang="tr-TR" sz="3200" dirty="0"/>
              <a:t>, pop-</a:t>
            </a:r>
            <a:r>
              <a:rPr lang="tr-TR" sz="3200" dirty="0" err="1"/>
              <a:t>up</a:t>
            </a:r>
            <a:endParaRPr lang="tr-TR" sz="3200" dirty="0"/>
          </a:p>
          <a:p>
            <a:pPr marL="1085850" lvl="3">
              <a:lnSpc>
                <a:spcPts val="2143"/>
              </a:lnSpc>
              <a:spcBef>
                <a:spcPts val="300"/>
              </a:spcBef>
              <a:spcAft>
                <a:spcPts val="1029"/>
              </a:spcAft>
            </a:pPr>
            <a:r>
              <a:rPr lang="tr-TR" sz="3200" dirty="0"/>
              <a:t>Back-up(yedek) Danışman Sistemi</a:t>
            </a:r>
          </a:p>
          <a:p>
            <a:endParaRPr lang="tr-TR" dirty="0"/>
          </a:p>
        </p:txBody>
      </p:sp>
      <p:pic>
        <p:nvPicPr>
          <p:cNvPr id="7" name="İçerik Yer Tutucusu 6" descr="Baş Parmak Aşağıya Handy">
            <a:extLst>
              <a:ext uri="{FF2B5EF4-FFF2-40B4-BE49-F238E27FC236}">
                <a16:creationId xmlns:a16="http://schemas.microsoft.com/office/drawing/2014/main" id="{E7B2AAB8-C464-C368-7C42-774074F57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14" y="273430"/>
            <a:ext cx="1100964" cy="1100964"/>
          </a:xfrm>
          <a:prstGeom prst="rect">
            <a:avLst/>
          </a:prstGeom>
        </p:spPr>
      </p:pic>
      <p:pic>
        <p:nvPicPr>
          <p:cNvPr id="8" name="İçerik Yer Tutucusu 8" descr="Başparmak Yukarı İşareti">
            <a:extLst>
              <a:ext uri="{FF2B5EF4-FFF2-40B4-BE49-F238E27FC236}">
                <a16:creationId xmlns:a16="http://schemas.microsoft.com/office/drawing/2014/main" id="{C311A376-637B-4B5C-57E9-989172859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5425" y="50862"/>
            <a:ext cx="1234949" cy="1234949"/>
          </a:xfrm>
          <a:prstGeom prst="rect">
            <a:avLst/>
          </a:prstGeom>
        </p:spPr>
      </p:pic>
      <p:graphicFrame>
        <p:nvGraphicFramePr>
          <p:cNvPr id="9" name="Tablo 8">
            <a:extLst>
              <a:ext uri="{FF2B5EF4-FFF2-40B4-BE49-F238E27FC236}">
                <a16:creationId xmlns:a16="http://schemas.microsoft.com/office/drawing/2014/main" id="{E81C4B50-594E-2B96-0203-F205060E5F4E}"/>
              </a:ext>
            </a:extLst>
          </p:cNvPr>
          <p:cNvGraphicFramePr>
            <a:graphicFrameLocks noGrp="1"/>
          </p:cNvGraphicFramePr>
          <p:nvPr>
            <p:extLst>
              <p:ext uri="{D42A27DB-BD31-4B8C-83A1-F6EECF244321}">
                <p14:modId xmlns:p14="http://schemas.microsoft.com/office/powerpoint/2010/main" val="1367197191"/>
              </p:ext>
            </p:extLst>
          </p:nvPr>
        </p:nvGraphicFramePr>
        <p:xfrm>
          <a:off x="739775" y="4204398"/>
          <a:ext cx="10515599" cy="2133600"/>
        </p:xfrm>
        <a:graphic>
          <a:graphicData uri="http://schemas.openxmlformats.org/drawingml/2006/table">
            <a:tbl>
              <a:tblPr>
                <a:tableStyleId>{00A15C55-8517-42AA-B614-E9B94910E393}</a:tableStyleId>
              </a:tblPr>
              <a:tblGrid>
                <a:gridCol w="3699933">
                  <a:extLst>
                    <a:ext uri="{9D8B030D-6E8A-4147-A177-3AD203B41FA5}">
                      <a16:colId xmlns:a16="http://schemas.microsoft.com/office/drawing/2014/main" val="1624747552"/>
                    </a:ext>
                  </a:extLst>
                </a:gridCol>
                <a:gridCol w="3407833">
                  <a:extLst>
                    <a:ext uri="{9D8B030D-6E8A-4147-A177-3AD203B41FA5}">
                      <a16:colId xmlns:a16="http://schemas.microsoft.com/office/drawing/2014/main" val="2929478284"/>
                    </a:ext>
                  </a:extLst>
                </a:gridCol>
                <a:gridCol w="3407833">
                  <a:extLst>
                    <a:ext uri="{9D8B030D-6E8A-4147-A177-3AD203B41FA5}">
                      <a16:colId xmlns:a16="http://schemas.microsoft.com/office/drawing/2014/main" val="2979249728"/>
                    </a:ext>
                  </a:extLst>
                </a:gridCol>
              </a:tblGrid>
              <a:tr h="0">
                <a:tc>
                  <a:txBody>
                    <a:bodyPr/>
                    <a:lstStyle/>
                    <a:p>
                      <a:pPr algn="l"/>
                      <a:endParaRPr lang="tr-TR" b="1" dirty="0">
                        <a:solidFill>
                          <a:schemeClr val="tx2"/>
                        </a:solidFill>
                        <a:effectLst/>
                      </a:endParaRPr>
                    </a:p>
                  </a:txBody>
                  <a:tcPr marR="76200" marT="76200" marB="76200" anchor="ctr"/>
                </a:tc>
                <a:tc>
                  <a:txBody>
                    <a:bodyPr/>
                    <a:lstStyle/>
                    <a:p>
                      <a:pPr algn="l"/>
                      <a:r>
                        <a:rPr lang="tr-TR" b="1" dirty="0">
                          <a:solidFill>
                            <a:schemeClr val="tx2"/>
                          </a:solidFill>
                          <a:effectLst/>
                        </a:rPr>
                        <a:t>Önce</a:t>
                      </a:r>
                    </a:p>
                  </a:txBody>
                  <a:tcPr marL="76200" marR="76200" marT="76200" marB="76200" anchor="ctr"/>
                </a:tc>
                <a:tc>
                  <a:txBody>
                    <a:bodyPr/>
                    <a:lstStyle/>
                    <a:p>
                      <a:pPr algn="l"/>
                      <a:r>
                        <a:rPr lang="tr-TR" b="1" dirty="0">
                          <a:solidFill>
                            <a:schemeClr val="tx2"/>
                          </a:solidFill>
                          <a:effectLst/>
                        </a:rPr>
                        <a:t>Sonra</a:t>
                      </a:r>
                    </a:p>
                  </a:txBody>
                  <a:tcPr marL="76200" marR="76200" marT="76200" marB="76200" anchor="ctr"/>
                </a:tc>
                <a:extLst>
                  <a:ext uri="{0D108BD9-81ED-4DB2-BD59-A6C34878D82A}">
                    <a16:rowId xmlns:a16="http://schemas.microsoft.com/office/drawing/2014/main" val="3548323481"/>
                  </a:ext>
                </a:extLst>
              </a:tr>
              <a:tr h="0">
                <a:tc>
                  <a:txBody>
                    <a:bodyPr/>
                    <a:lstStyle/>
                    <a:p>
                      <a:r>
                        <a:rPr lang="tr-TR">
                          <a:effectLst/>
                        </a:rPr>
                        <a:t>SLA İhlali Oranı</a:t>
                      </a:r>
                    </a:p>
                  </a:txBody>
                  <a:tcPr marR="76200" marT="76200" marB="76200" anchor="ctr"/>
                </a:tc>
                <a:tc>
                  <a:txBody>
                    <a:bodyPr/>
                    <a:lstStyle/>
                    <a:p>
                      <a:r>
                        <a:rPr lang="tr-TR" dirty="0">
                          <a:effectLst/>
                        </a:rPr>
                        <a:t>%30 </a:t>
                      </a:r>
                    </a:p>
                  </a:txBody>
                  <a:tcPr marL="76200" marR="76200" marT="76200" marB="76200" anchor="ctr"/>
                </a:tc>
                <a:tc>
                  <a:txBody>
                    <a:bodyPr/>
                    <a:lstStyle/>
                    <a:p>
                      <a:r>
                        <a:rPr lang="tr-TR" dirty="0">
                          <a:effectLst/>
                        </a:rPr>
                        <a:t>%10</a:t>
                      </a:r>
                    </a:p>
                  </a:txBody>
                  <a:tcPr marL="76200" marR="76200" marT="76200" marB="76200" anchor="ctr"/>
                </a:tc>
                <a:extLst>
                  <a:ext uri="{0D108BD9-81ED-4DB2-BD59-A6C34878D82A}">
                    <a16:rowId xmlns:a16="http://schemas.microsoft.com/office/drawing/2014/main" val="3246275115"/>
                  </a:ext>
                </a:extLst>
              </a:tr>
              <a:tr h="0">
                <a:tc>
                  <a:txBody>
                    <a:bodyPr/>
                    <a:lstStyle/>
                    <a:p>
                      <a:r>
                        <a:rPr lang="tr-TR">
                          <a:effectLst/>
                        </a:rPr>
                        <a:t>Yanıt Süresi (saat)</a:t>
                      </a:r>
                    </a:p>
                  </a:txBody>
                  <a:tcPr marR="76200" marT="76200" marB="76200" anchor="ctr"/>
                </a:tc>
                <a:tc>
                  <a:txBody>
                    <a:bodyPr/>
                    <a:lstStyle/>
                    <a:p>
                      <a:r>
                        <a:rPr lang="tr-TR" dirty="0">
                          <a:effectLst/>
                        </a:rPr>
                        <a:t>6</a:t>
                      </a:r>
                    </a:p>
                  </a:txBody>
                  <a:tcPr marL="76200" marR="76200" marT="76200" marB="76200" anchor="ctr"/>
                </a:tc>
                <a:tc>
                  <a:txBody>
                    <a:bodyPr/>
                    <a:lstStyle/>
                    <a:p>
                      <a:r>
                        <a:rPr lang="tr-TR" dirty="0">
                          <a:effectLst/>
                        </a:rPr>
                        <a:t>2</a:t>
                      </a:r>
                    </a:p>
                  </a:txBody>
                  <a:tcPr marL="76200" marR="76200" marT="76200" marB="76200" anchor="ctr"/>
                </a:tc>
                <a:extLst>
                  <a:ext uri="{0D108BD9-81ED-4DB2-BD59-A6C34878D82A}">
                    <a16:rowId xmlns:a16="http://schemas.microsoft.com/office/drawing/2014/main" val="370549483"/>
                  </a:ext>
                </a:extLst>
              </a:tr>
              <a:tr h="0">
                <a:tc>
                  <a:txBody>
                    <a:bodyPr/>
                    <a:lstStyle/>
                    <a:p>
                      <a:r>
                        <a:rPr lang="tr-TR" dirty="0">
                          <a:effectLst/>
                        </a:rPr>
                        <a:t>Çözüm Süresi</a:t>
                      </a:r>
                    </a:p>
                  </a:txBody>
                  <a:tcPr marR="76200" marT="76200" marB="76200" anchor="ctr"/>
                </a:tc>
                <a:tc>
                  <a:txBody>
                    <a:bodyPr/>
                    <a:lstStyle/>
                    <a:p>
                      <a:r>
                        <a:rPr lang="tr-TR" dirty="0">
                          <a:effectLst/>
                        </a:rPr>
                        <a:t>Ortalama 48 saat</a:t>
                      </a:r>
                    </a:p>
                  </a:txBody>
                  <a:tcPr marL="76200" marR="76200" marT="76200" marB="76200" anchor="ctr"/>
                </a:tc>
                <a:tc>
                  <a:txBody>
                    <a:bodyPr/>
                    <a:lstStyle/>
                    <a:p>
                      <a:r>
                        <a:rPr lang="tr-TR" dirty="0">
                          <a:effectLst/>
                        </a:rPr>
                        <a:t>Ortalama 36 saat</a:t>
                      </a:r>
                    </a:p>
                  </a:txBody>
                  <a:tcPr marL="76200" marR="76200" marT="76200" marB="76200" anchor="ctr"/>
                </a:tc>
                <a:extLst>
                  <a:ext uri="{0D108BD9-81ED-4DB2-BD59-A6C34878D82A}">
                    <a16:rowId xmlns:a16="http://schemas.microsoft.com/office/drawing/2014/main" val="2014735475"/>
                  </a:ext>
                </a:extLst>
              </a:tr>
              <a:tr h="0">
                <a:tc>
                  <a:txBody>
                    <a:bodyPr/>
                    <a:lstStyle/>
                    <a:p>
                      <a:r>
                        <a:rPr lang="tr-TR" dirty="0">
                          <a:effectLst/>
                        </a:rPr>
                        <a:t>Müşteri Memnuniyeti</a:t>
                      </a:r>
                    </a:p>
                  </a:txBody>
                  <a:tcPr marR="76200" marT="76200" marB="76200" anchor="ctr"/>
                </a:tc>
                <a:tc>
                  <a:txBody>
                    <a:bodyPr/>
                    <a:lstStyle/>
                    <a:p>
                      <a:r>
                        <a:rPr lang="tr-TR" dirty="0">
                          <a:effectLst/>
                        </a:rPr>
                        <a:t>%55</a:t>
                      </a:r>
                    </a:p>
                  </a:txBody>
                  <a:tcPr marL="76200" marR="76200" marT="76200" marB="76200" anchor="ctr"/>
                </a:tc>
                <a:tc>
                  <a:txBody>
                    <a:bodyPr/>
                    <a:lstStyle/>
                    <a:p>
                      <a:r>
                        <a:rPr lang="tr-TR" dirty="0">
                          <a:effectLst/>
                        </a:rPr>
                        <a:t>%85</a:t>
                      </a:r>
                    </a:p>
                  </a:txBody>
                  <a:tcPr marL="76200" marR="76200" marT="76200" marB="76200" anchor="ctr"/>
                </a:tc>
                <a:extLst>
                  <a:ext uri="{0D108BD9-81ED-4DB2-BD59-A6C34878D82A}">
                    <a16:rowId xmlns:a16="http://schemas.microsoft.com/office/drawing/2014/main" val="4227787256"/>
                  </a:ext>
                </a:extLst>
              </a:tr>
            </a:tbl>
          </a:graphicData>
        </a:graphic>
      </p:graphicFrame>
    </p:spTree>
    <p:extLst>
      <p:ext uri="{BB962C8B-B14F-4D97-AF65-F5344CB8AC3E}">
        <p14:creationId xmlns:p14="http://schemas.microsoft.com/office/powerpoint/2010/main" val="1111886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Teşekkür Eden Teodor Cat">
            <a:extLst>
              <a:ext uri="{FF2B5EF4-FFF2-40B4-BE49-F238E27FC236}">
                <a16:creationId xmlns:a16="http://schemas.microsoft.com/office/drawing/2014/main" id="{1FCE2CB6-EFBD-FCE5-83D8-48B9E3B3A0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2346" y="3429000"/>
            <a:ext cx="2949694" cy="2949694"/>
          </a:xfrm>
          <a:prstGeom prst="rect">
            <a:avLst/>
          </a:prstGeom>
        </p:spPr>
      </p:pic>
      <p:sp>
        <p:nvSpPr>
          <p:cNvPr id="3" name="Metin kutusu 2">
            <a:extLst>
              <a:ext uri="{FF2B5EF4-FFF2-40B4-BE49-F238E27FC236}">
                <a16:creationId xmlns:a16="http://schemas.microsoft.com/office/drawing/2014/main" id="{93A06EF6-C841-2239-73CF-1680A7EC6319}"/>
              </a:ext>
            </a:extLst>
          </p:cNvPr>
          <p:cNvSpPr txBox="1"/>
          <p:nvPr/>
        </p:nvSpPr>
        <p:spPr>
          <a:xfrm>
            <a:off x="2519539" y="2782669"/>
            <a:ext cx="6705881" cy="646331"/>
          </a:xfrm>
          <a:prstGeom prst="rect">
            <a:avLst/>
          </a:prstGeom>
          <a:noFill/>
        </p:spPr>
        <p:txBody>
          <a:bodyPr wrap="square" rtlCol="0">
            <a:spAutoFit/>
          </a:bodyPr>
          <a:lstStyle/>
          <a:p>
            <a:pPr algn="ctr"/>
            <a:r>
              <a:rPr lang="tr-TR" sz="3600" dirty="0"/>
              <a:t>Dinlediğiniz için teşekkürler.</a:t>
            </a:r>
          </a:p>
        </p:txBody>
      </p:sp>
    </p:spTree>
    <p:extLst>
      <p:ext uri="{BB962C8B-B14F-4D97-AF65-F5344CB8AC3E}">
        <p14:creationId xmlns:p14="http://schemas.microsoft.com/office/powerpoint/2010/main" val="121797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0 L 0 0.25 E" pathEditMode="relative" ptsTypes="">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eması">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eması">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273</TotalTime>
  <Words>792</Words>
  <Application>Microsoft Office PowerPoint</Application>
  <PresentationFormat>Geniş ekran</PresentationFormat>
  <Paragraphs>63</Paragraphs>
  <Slides>15</Slides>
  <Notes>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15</vt:i4>
      </vt:variant>
    </vt:vector>
  </HeadingPairs>
  <TitlesOfParts>
    <vt:vector size="22" baseType="lpstr">
      <vt:lpstr>DeepSeek-CJK-patch</vt:lpstr>
      <vt:lpstr>Amasis MT Pro Black</vt:lpstr>
      <vt:lpstr>Aptos</vt:lpstr>
      <vt:lpstr>Aptos Display</vt:lpstr>
      <vt:lpstr>Arial</vt:lpstr>
      <vt:lpstr>Times New Roman</vt:lpstr>
      <vt:lpstr>Office Theme</vt:lpstr>
      <vt:lpstr>NTT DATA SAP DESTEK SÜREÇLERİNİN İNCELENMESİ VE İYİLEŞTİRME ÖNERİLERİNİN SUNULMASI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SELIN PIR</dc:creator>
  <cp:lastModifiedBy>SELIN PIR</cp:lastModifiedBy>
  <cp:revision>4</cp:revision>
  <dcterms:created xsi:type="dcterms:W3CDTF">2025-05-12T20:56:53Z</dcterms:created>
  <dcterms:modified xsi:type="dcterms:W3CDTF">2025-05-13T12:54:15Z</dcterms:modified>
</cp:coreProperties>
</file>